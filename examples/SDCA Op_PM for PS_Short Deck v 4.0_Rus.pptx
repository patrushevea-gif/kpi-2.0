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Default Extension="tiff" ContentType="image/tiff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8" r:id="rId5"/>
  </p:sldMasterIdLst>
  <p:notesMasterIdLst>
    <p:notesMasterId r:id="rId23"/>
  </p:notesMasterIdLst>
  <p:sldIdLst>
    <p:sldId id="330" r:id="rId6"/>
    <p:sldId id="340" r:id="rId7"/>
    <p:sldId id="383" r:id="rId8"/>
    <p:sldId id="384" r:id="rId9"/>
    <p:sldId id="365" r:id="rId10"/>
    <p:sldId id="345" r:id="rId11"/>
    <p:sldId id="366" r:id="rId12"/>
    <p:sldId id="347" r:id="rId13"/>
    <p:sldId id="348" r:id="rId14"/>
    <p:sldId id="378" r:id="rId15"/>
    <p:sldId id="379" r:id="rId16"/>
    <p:sldId id="380" r:id="rId17"/>
    <p:sldId id="381" r:id="rId18"/>
    <p:sldId id="382" r:id="rId19"/>
    <p:sldId id="364" r:id="rId20"/>
    <p:sldId id="377" r:id="rId21"/>
    <p:sldId id="356" r:id="rId22"/>
  </p:sldIdLst>
  <p:sldSz cx="9144000" cy="5143500" type="screen16x9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00"/>
    <a:srgbClr val="00FF00"/>
    <a:srgbClr val="CC3300"/>
    <a:srgbClr val="CC3F00"/>
    <a:srgbClr val="99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FD7202-FC44-06D2-4404-663266D2EB66}" v="1" dt="2019-06-18T10:40:17.3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61" autoAdjust="0"/>
    <p:restoredTop sz="86679" autoAdjust="0"/>
  </p:normalViewPr>
  <p:slideViewPr>
    <p:cSldViewPr>
      <p:cViewPr varScale="1">
        <p:scale>
          <a:sx n="99" d="100"/>
          <a:sy n="99" d="100"/>
        </p:scale>
        <p:origin x="1118" y="5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7" d="100"/>
          <a:sy n="67" d="100"/>
        </p:scale>
        <p:origin x="3120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image" Target="../media/image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image" Target="../media/image1.e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image" Target="../media/image1.e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59A630-FF45-4CF8-B3BD-0751706BB9CC}" type="datetimeFigureOut">
              <a:rPr lang="ru-RU" smtClean="0"/>
              <a:t>21.05.2020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1F06C5-8DC6-4131-8704-61AE122BAB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76984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process should be defined with clear start and end points</a:t>
            </a:r>
          </a:p>
          <a:p>
            <a:r>
              <a:rPr lang="en-US" dirty="0"/>
              <a:t>Tasks should be identified and arranged in the actual sequence in which process tasks are carried out and which functions execute it, using columns and </a:t>
            </a:r>
            <a:r>
              <a:rPr lang="en-US" dirty="0" err="1"/>
              <a:t>flowcart</a:t>
            </a:r>
            <a:r>
              <a:rPr lang="en-US" dirty="0"/>
              <a:t> symbols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49019C-9621-4646-BE4C-8960C7B7D8C0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51131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nl-NL" i="1" baseline="0" dirty="0"/>
              <a:t>English Version </a:t>
            </a:r>
          </a:p>
          <a:p>
            <a:pPr marL="0" indent="0">
              <a:buFontTx/>
              <a:buNone/>
            </a:pPr>
            <a:r>
              <a:rPr lang="nl-NL" baseline="0" dirty="0" err="1"/>
              <a:t>Example</a:t>
            </a:r>
            <a:r>
              <a:rPr lang="nl-NL" baseline="0" dirty="0"/>
              <a:t> of Proces Map </a:t>
            </a:r>
            <a:r>
              <a:rPr lang="nl-NL" baseline="0" dirty="0" err="1"/>
              <a:t>visualization</a:t>
            </a:r>
            <a:r>
              <a:rPr lang="nl-NL" baseline="0" dirty="0"/>
              <a:t>:  …. </a:t>
            </a:r>
            <a:r>
              <a:rPr lang="nl-NL" b="1" baseline="0" dirty="0"/>
              <a:t>MAKE SURE TO USE VISUALIZATION OF YOUR LOCAL AREA!!!</a:t>
            </a:r>
          </a:p>
          <a:p>
            <a:pPr marL="0" indent="0">
              <a:buFontTx/>
              <a:buNone/>
            </a:pPr>
            <a:r>
              <a:rPr lang="nl-NL" baseline="0" dirty="0" err="1"/>
              <a:t>Process</a:t>
            </a:r>
            <a:r>
              <a:rPr lang="nl-NL" baseline="0" dirty="0"/>
              <a:t> </a:t>
            </a:r>
            <a:r>
              <a:rPr lang="nl-NL" baseline="0" dirty="0" err="1"/>
              <a:t>Mapping</a:t>
            </a:r>
            <a:r>
              <a:rPr lang="nl-NL" baseline="0" dirty="0"/>
              <a:t> is </a:t>
            </a:r>
            <a:r>
              <a:rPr lang="nl-NL" baseline="0" dirty="0" err="1"/>
              <a:t>into</a:t>
            </a:r>
            <a:r>
              <a:rPr lang="nl-NL" baseline="0" dirty="0"/>
              <a:t> SDCA as 1 of </a:t>
            </a:r>
            <a:r>
              <a:rPr lang="nl-NL" baseline="0" dirty="0" err="1"/>
              <a:t>the</a:t>
            </a:r>
            <a:r>
              <a:rPr lang="nl-NL" baseline="0" dirty="0"/>
              <a:t> first steps </a:t>
            </a:r>
            <a:r>
              <a:rPr lang="nl-NL" baseline="0" dirty="0" err="1"/>
              <a:t>to</a:t>
            </a:r>
            <a:r>
              <a:rPr lang="nl-NL" baseline="0" dirty="0"/>
              <a:t> </a:t>
            </a:r>
            <a:r>
              <a:rPr lang="nl-NL" baseline="0" dirty="0" err="1"/>
              <a:t>standardize</a:t>
            </a:r>
            <a:r>
              <a:rPr lang="nl-NL" baseline="0" dirty="0"/>
              <a:t> </a:t>
            </a:r>
            <a:r>
              <a:rPr lang="nl-NL" baseline="0" dirty="0" err="1"/>
              <a:t>your</a:t>
            </a:r>
            <a:r>
              <a:rPr lang="nl-NL" baseline="0" dirty="0"/>
              <a:t> </a:t>
            </a:r>
            <a:r>
              <a:rPr lang="nl-NL" baseline="0" dirty="0" err="1"/>
              <a:t>Processes</a:t>
            </a:r>
            <a:r>
              <a:rPr lang="nl-NL" baseline="0" dirty="0"/>
              <a:t>.</a:t>
            </a:r>
          </a:p>
          <a:p>
            <a:pPr marL="0" indent="0">
              <a:buFontTx/>
              <a:buNone/>
            </a:pPr>
            <a:r>
              <a:rPr lang="nl-NL" baseline="0" dirty="0"/>
              <a:t>HOW, </a:t>
            </a:r>
            <a:r>
              <a:rPr lang="nl-NL" baseline="0" dirty="0" err="1"/>
              <a:t>Where</a:t>
            </a:r>
            <a:r>
              <a:rPr lang="nl-NL" baseline="0" dirty="0"/>
              <a:t> </a:t>
            </a:r>
            <a:r>
              <a:rPr lang="nl-NL" baseline="0" dirty="0" err="1"/>
              <a:t>and</a:t>
            </a:r>
            <a:r>
              <a:rPr lang="nl-NL" baseline="0" dirty="0"/>
              <a:t> </a:t>
            </a:r>
            <a:r>
              <a:rPr lang="nl-NL" baseline="0" dirty="0" err="1"/>
              <a:t>Whom</a:t>
            </a:r>
            <a:r>
              <a:rPr lang="nl-NL" baseline="0" dirty="0"/>
              <a:t>  do </a:t>
            </a:r>
            <a:r>
              <a:rPr lang="nl-NL" baseline="0" dirty="0" err="1"/>
              <a:t>it</a:t>
            </a:r>
            <a:r>
              <a:rPr lang="nl-NL" baseline="0" dirty="0"/>
              <a:t>?</a:t>
            </a:r>
          </a:p>
          <a:p>
            <a:pPr marL="0" indent="0">
              <a:buFontTx/>
              <a:buNone/>
            </a:pPr>
            <a:endParaRPr lang="nl-NL" baseline="0" dirty="0"/>
          </a:p>
          <a:p>
            <a:pPr marL="0" indent="0">
              <a:buFontTx/>
              <a:buNone/>
            </a:pPr>
            <a:endParaRPr lang="nl-NL" baseline="0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49019C-9621-4646-BE4C-8960C7B7D8C0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72522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ru-RU" sz="1200" dirty="0"/>
              <a:t>Processes are kept in control when - and only when - </a:t>
            </a:r>
            <a:r>
              <a:rPr lang="en-GB" altLang="ru-RU" sz="1200" b="1" dirty="0"/>
              <a:t>every member</a:t>
            </a:r>
            <a:r>
              <a:rPr lang="en-GB" altLang="ru-RU" sz="1200" dirty="0"/>
              <a:t> of the organization accepts </a:t>
            </a:r>
            <a:r>
              <a:rPr lang="en-GB" altLang="ru-RU" sz="1200" b="1" dirty="0"/>
              <a:t>responsibility</a:t>
            </a:r>
            <a:r>
              <a:rPr lang="en-GB" altLang="ru-RU" sz="1200" dirty="0"/>
              <a:t> for </a:t>
            </a:r>
            <a:r>
              <a:rPr lang="en-GB" altLang="ru-RU" sz="1200" b="1" dirty="0"/>
              <a:t>identifying variances</a:t>
            </a:r>
            <a:r>
              <a:rPr lang="en-GB" altLang="ru-RU" sz="1200" dirty="0"/>
              <a:t>, then </a:t>
            </a:r>
            <a:r>
              <a:rPr lang="en-GB" altLang="ru-RU" sz="1200" b="1" dirty="0"/>
              <a:t>takes action</a:t>
            </a:r>
            <a:r>
              <a:rPr lang="en-GB" altLang="ru-RU" sz="1200" dirty="0"/>
              <a:t> to eliminate causes of problems.</a:t>
            </a:r>
          </a:p>
          <a:p>
            <a:endParaRPr lang="en-GB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ru-RU" sz="1200" dirty="0">
                <a:latin typeface="AB InBev Headlines"/>
              </a:rPr>
              <a:t>SIC is utilizing the decision loop so frequently that any deviation from progress towards goal is corrected early enough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1F06C5-8DC6-4131-8704-61AE122BAB2A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48964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1F06C5-8DC6-4131-8704-61AE122BAB2A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5833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1F06C5-8DC6-4131-8704-61AE122BAB2A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02846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1F06C5-8DC6-4131-8704-61AE122BAB2A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74317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algn="just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200" b="1" dirty="0"/>
              <a:t>During Shift Handover:  </a:t>
            </a:r>
          </a:p>
          <a:p>
            <a:pPr marL="285750" lvl="0" indent="-285750" algn="just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Review successful 5 WHY with found root cause </a:t>
            </a:r>
          </a:p>
          <a:p>
            <a:pPr marL="285750" lvl="0" indent="-285750" algn="just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Escalate to FLM when root cause of the problem was not identified during shift handover</a:t>
            </a:r>
          </a:p>
          <a:p>
            <a:pPr marL="285750" lvl="0" indent="-285750" algn="just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Post filled 5 WHY on Line Board</a:t>
            </a:r>
            <a:endParaRPr lang="en-US" sz="1600" dirty="0"/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1F06C5-8DC6-4131-8704-61AE122BAB2A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28932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675337"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7425EF-932E-4BB0-AD97-07196FB8B54B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29365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slideMaster" Target="../slideMasters/slideMaster1.xml"/><Relationship Id="rId7" Type="http://schemas.microsoft.com/office/2007/relationships/hdphoto" Target="../media/hdphoto1.wdp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tags" Target="../tags/tag2.xml"/><Relationship Id="rId16" Type="http://schemas.openxmlformats.org/officeDocument/2006/relationships/image" Target="../media/image14.png"/><Relationship Id="rId1" Type="http://schemas.openxmlformats.org/officeDocument/2006/relationships/vmlDrawing" Target="../drawings/vmlDrawing2.v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1.emf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oleObject" Target="../embeddings/oleObject2.bin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7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tags" Target="../tags/tag5.xml"/><Relationship Id="rId7" Type="http://schemas.openxmlformats.org/officeDocument/2006/relationships/image" Target="../media/image5.png"/><Relationship Id="rId2" Type="http://schemas.openxmlformats.org/officeDocument/2006/relationships/tags" Target="../tags/tag4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.emf"/><Relationship Id="rId11" Type="http://schemas.openxmlformats.org/officeDocument/2006/relationships/image" Target="../media/image19.emf"/><Relationship Id="rId5" Type="http://schemas.openxmlformats.org/officeDocument/2006/relationships/oleObject" Target="../embeddings/oleObject4.bin"/><Relationship Id="rId10" Type="http://schemas.openxmlformats.org/officeDocument/2006/relationships/oleObject" Target="../embeddings/oleObject5.bin"/><Relationship Id="rId4" Type="http://schemas.openxmlformats.org/officeDocument/2006/relationships/slideMaster" Target="../slideMasters/slideMaster1.xml"/><Relationship Id="rId9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6.png"/><Relationship Id="rId5" Type="http://schemas.openxmlformats.org/officeDocument/2006/relationships/image" Target="../media/image19.emf"/><Relationship Id="rId4" Type="http://schemas.openxmlformats.org/officeDocument/2006/relationships/oleObject" Target="../embeddings/oleObject6.bin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tags" Target="../tags/tag8.xml"/><Relationship Id="rId7" Type="http://schemas.openxmlformats.org/officeDocument/2006/relationships/image" Target="../media/image5.png"/><Relationship Id="rId2" Type="http://schemas.openxmlformats.org/officeDocument/2006/relationships/tags" Target="../tags/tag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.emf"/><Relationship Id="rId11" Type="http://schemas.openxmlformats.org/officeDocument/2006/relationships/image" Target="../media/image19.emf"/><Relationship Id="rId5" Type="http://schemas.openxmlformats.org/officeDocument/2006/relationships/oleObject" Target="../embeddings/oleObject7.bin"/><Relationship Id="rId10" Type="http://schemas.openxmlformats.org/officeDocument/2006/relationships/oleObject" Target="../embeddings/oleObject8.bin"/><Relationship Id="rId4" Type="http://schemas.openxmlformats.org/officeDocument/2006/relationships/slideMaster" Target="../slideMasters/slideMaster1.xml"/><Relationship Id="rId9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tags" Target="../tags/tag10.xml"/><Relationship Id="rId7" Type="http://schemas.openxmlformats.org/officeDocument/2006/relationships/image" Target="../media/image5.png"/><Relationship Id="rId2" Type="http://schemas.openxmlformats.org/officeDocument/2006/relationships/tags" Target="../tags/tag9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.emf"/><Relationship Id="rId11" Type="http://schemas.openxmlformats.org/officeDocument/2006/relationships/image" Target="../media/image19.emf"/><Relationship Id="rId5" Type="http://schemas.openxmlformats.org/officeDocument/2006/relationships/oleObject" Target="../embeddings/oleObject9.bin"/><Relationship Id="rId10" Type="http://schemas.openxmlformats.org/officeDocument/2006/relationships/oleObject" Target="../embeddings/oleObject10.bin"/><Relationship Id="rId4" Type="http://schemas.openxmlformats.org/officeDocument/2006/relationships/slideMaster" Target="../slideMasters/slideMaster1.xml"/><Relationship Id="rId9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tags" Target="../tags/tag12.xml"/><Relationship Id="rId7" Type="http://schemas.openxmlformats.org/officeDocument/2006/relationships/image" Target="../media/image5.png"/><Relationship Id="rId2" Type="http://schemas.openxmlformats.org/officeDocument/2006/relationships/tags" Target="../tags/tag11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.emf"/><Relationship Id="rId11" Type="http://schemas.openxmlformats.org/officeDocument/2006/relationships/image" Target="../media/image19.emf"/><Relationship Id="rId5" Type="http://schemas.openxmlformats.org/officeDocument/2006/relationships/oleObject" Target="../embeddings/oleObject11.bin"/><Relationship Id="rId10" Type="http://schemas.openxmlformats.org/officeDocument/2006/relationships/oleObject" Target="../embeddings/oleObject12.bin"/><Relationship Id="rId4" Type="http://schemas.openxmlformats.org/officeDocument/2006/relationships/slideMaster" Target="../slideMasters/slideMaster1.xml"/><Relationship Id="rId9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420467651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85" name="think-cell Folie" r:id="rId4" imgW="270" imgH="270" progId="TCLayout.ActiveDocument.1">
                  <p:embed/>
                </p:oleObj>
              </mc:Choice>
              <mc:Fallback>
                <p:oleObj name="think-cell Folie" r:id="rId4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8167" y="4730750"/>
            <a:ext cx="302283" cy="27384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ctr">
              <a:defRPr lang="en-US" sz="700" baseline="0" smtClean="0">
                <a:solidFill>
                  <a:schemeClr val="bg2"/>
                </a:solidFill>
              </a:defRPr>
            </a:lvl1pPr>
          </a:lstStyle>
          <a:p>
            <a:fld id="{64206654-C114-450A-967D-EF3F9BEC54C3}" type="slidenum">
              <a:rPr lang="ru-RU" smtClean="0"/>
              <a:t>‹#›</a:t>
            </a:fld>
            <a:endParaRPr lang="ru-RU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6" cstate="email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6544" y="6415131"/>
            <a:ext cx="835819" cy="152387"/>
          </a:xfrm>
          <a:prstGeom prst="rect">
            <a:avLst/>
          </a:prstGeom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7586" y="93500"/>
            <a:ext cx="811222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hteck 4"/>
          <p:cNvSpPr/>
          <p:nvPr/>
        </p:nvSpPr>
        <p:spPr>
          <a:xfrm>
            <a:off x="0" y="84168"/>
            <a:ext cx="9144000" cy="5059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Ellipse 10"/>
          <p:cNvSpPr/>
          <p:nvPr/>
        </p:nvSpPr>
        <p:spPr>
          <a:xfrm>
            <a:off x="3013119" y="771223"/>
            <a:ext cx="3228391" cy="332179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2" name="Picture 2" descr="C:\Users\BUHOLZFA\Downloads\noun_Mechanic_216067.png"/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739"/>
          <a:stretch/>
        </p:blipFill>
        <p:spPr bwMode="auto">
          <a:xfrm>
            <a:off x="4532466" y="1459199"/>
            <a:ext cx="1308924" cy="111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3" descr="C:\Users\BUHOLZFA\Downloads\noun_Worker_1200568.png"/>
          <p:cNvPicPr>
            <a:picLocks noChangeAspect="1" noChangeArrowheads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009"/>
          <a:stretch/>
        </p:blipFill>
        <p:spPr bwMode="auto">
          <a:xfrm>
            <a:off x="3582349" y="1335442"/>
            <a:ext cx="1457301" cy="12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feld 13"/>
          <p:cNvSpPr txBox="1"/>
          <p:nvPr/>
        </p:nvSpPr>
        <p:spPr>
          <a:xfrm>
            <a:off x="3675694" y="2483985"/>
            <a:ext cx="1968937" cy="991041"/>
          </a:xfrm>
          <a:prstGeom prst="rect">
            <a:avLst/>
          </a:prstGeom>
          <a:noFill/>
        </p:spPr>
        <p:txBody>
          <a:bodyPr wrap="none" lIns="128016" tIns="64008" rIns="128016" bIns="64008" rtlCol="0">
            <a:spAutoFit/>
          </a:bodyPr>
          <a:lstStyle/>
          <a:p>
            <a:pPr algn="ctr"/>
            <a:r>
              <a:rPr lang="de-DE" sz="3200" b="1" dirty="0">
                <a:solidFill>
                  <a:schemeClr val="accent2"/>
                </a:solidFill>
                <a:latin typeface="Arial Black" panose="020B0A04020102020204" pitchFamily="34" charset="0"/>
              </a:rPr>
              <a:t>SDCA</a:t>
            </a:r>
            <a:endParaRPr lang="de-DE" sz="2400" b="1" dirty="0">
              <a:solidFill>
                <a:schemeClr val="accent2"/>
              </a:solidFill>
              <a:latin typeface="Arial Black" panose="020B0A04020102020204" pitchFamily="34" charset="0"/>
            </a:endParaRPr>
          </a:p>
          <a:p>
            <a:pPr algn="ctr"/>
            <a:r>
              <a:rPr lang="de-DE" sz="2400" b="1" dirty="0">
                <a:solidFill>
                  <a:schemeClr val="accent1"/>
                </a:solidFill>
                <a:latin typeface="Arial Black" panose="020B0A04020102020204" pitchFamily="34" charset="0"/>
              </a:rPr>
              <a:t>TRAINING</a:t>
            </a:r>
            <a:endParaRPr lang="de-DE" sz="2000" b="1" dirty="0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  <p:sp>
        <p:nvSpPr>
          <p:cNvPr id="15" name="Sechseck 14"/>
          <p:cNvSpPr/>
          <p:nvPr/>
        </p:nvSpPr>
        <p:spPr>
          <a:xfrm>
            <a:off x="4283470" y="488130"/>
            <a:ext cx="828000" cy="720000"/>
          </a:xfrm>
          <a:prstGeom prst="hexagon">
            <a:avLst/>
          </a:prstGeom>
          <a:solidFill>
            <a:schemeClr val="bg1"/>
          </a:solidFill>
          <a:ln w="57150">
            <a:solidFill>
              <a:schemeClr val="accent3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Sechseck 15"/>
          <p:cNvSpPr/>
          <p:nvPr/>
        </p:nvSpPr>
        <p:spPr>
          <a:xfrm>
            <a:off x="4283470" y="3672995"/>
            <a:ext cx="828000" cy="720000"/>
          </a:xfrm>
          <a:prstGeom prst="hexagon">
            <a:avLst/>
          </a:prstGeom>
          <a:solidFill>
            <a:schemeClr val="bg1"/>
          </a:solidFill>
          <a:ln w="57150">
            <a:solidFill>
              <a:schemeClr val="accent3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Sechseck 16"/>
          <p:cNvSpPr/>
          <p:nvPr/>
        </p:nvSpPr>
        <p:spPr>
          <a:xfrm>
            <a:off x="5541993" y="931240"/>
            <a:ext cx="828000" cy="720000"/>
          </a:xfrm>
          <a:prstGeom prst="hexagon">
            <a:avLst/>
          </a:prstGeom>
          <a:solidFill>
            <a:schemeClr val="bg1"/>
          </a:solidFill>
          <a:ln w="57150">
            <a:solidFill>
              <a:schemeClr val="accent3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Sechseck 17"/>
          <p:cNvSpPr/>
          <p:nvPr/>
        </p:nvSpPr>
        <p:spPr>
          <a:xfrm>
            <a:off x="3024948" y="931240"/>
            <a:ext cx="828000" cy="720000"/>
          </a:xfrm>
          <a:prstGeom prst="hexagon">
            <a:avLst/>
          </a:prstGeom>
          <a:solidFill>
            <a:schemeClr val="bg1"/>
          </a:solidFill>
          <a:ln w="57150">
            <a:solidFill>
              <a:schemeClr val="accent3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Sechseck 18"/>
          <p:cNvSpPr/>
          <p:nvPr/>
        </p:nvSpPr>
        <p:spPr>
          <a:xfrm>
            <a:off x="5541993" y="3106135"/>
            <a:ext cx="828000" cy="720000"/>
          </a:xfrm>
          <a:prstGeom prst="hexagon">
            <a:avLst/>
          </a:prstGeom>
          <a:solidFill>
            <a:schemeClr val="bg1"/>
          </a:solidFill>
          <a:ln w="57150">
            <a:solidFill>
              <a:schemeClr val="accent3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Sechseck 19"/>
          <p:cNvSpPr/>
          <p:nvPr/>
        </p:nvSpPr>
        <p:spPr>
          <a:xfrm>
            <a:off x="3024948" y="3151519"/>
            <a:ext cx="828000" cy="720000"/>
          </a:xfrm>
          <a:prstGeom prst="hexagon">
            <a:avLst/>
          </a:prstGeom>
          <a:solidFill>
            <a:schemeClr val="bg1"/>
          </a:solidFill>
          <a:ln w="57150">
            <a:solidFill>
              <a:schemeClr val="accent3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Sechseck 20"/>
          <p:cNvSpPr/>
          <p:nvPr/>
        </p:nvSpPr>
        <p:spPr>
          <a:xfrm>
            <a:off x="5865181" y="2075546"/>
            <a:ext cx="828000" cy="720000"/>
          </a:xfrm>
          <a:prstGeom prst="hexagon">
            <a:avLst/>
          </a:prstGeom>
          <a:solidFill>
            <a:schemeClr val="bg1"/>
          </a:solidFill>
          <a:ln w="57150">
            <a:solidFill>
              <a:schemeClr val="accent3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Sechseck 21"/>
          <p:cNvSpPr/>
          <p:nvPr/>
        </p:nvSpPr>
        <p:spPr>
          <a:xfrm>
            <a:off x="2589198" y="2075546"/>
            <a:ext cx="828000" cy="720000"/>
          </a:xfrm>
          <a:prstGeom prst="hexagon">
            <a:avLst/>
          </a:prstGeom>
          <a:solidFill>
            <a:schemeClr val="bg1"/>
          </a:solidFill>
          <a:ln w="57150">
            <a:solidFill>
              <a:schemeClr val="accent3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3" name="Picture 8" descr="C:\Users\BUHOLZFA\Downloads\noun_Cloud Network_1871500.png"/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22" r="9453" b="13953"/>
          <a:stretch/>
        </p:blipFill>
        <p:spPr bwMode="auto">
          <a:xfrm>
            <a:off x="4410395" y="542130"/>
            <a:ext cx="574150" cy="61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9" descr="C:\Users\BUHOLZFA\Downloads\noun_Idea_2053563.png"/>
          <p:cNvPicPr>
            <a:picLocks noChangeAspect="1" noChangeArrowheads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33" r="16054" b="16470"/>
          <a:stretch/>
        </p:blipFill>
        <p:spPr bwMode="auto">
          <a:xfrm>
            <a:off x="5681646" y="939247"/>
            <a:ext cx="560211" cy="68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5" descr="C:\Users\BUHOLZFA\Downloads\noun_Checklist_81215.png"/>
          <p:cNvPicPr>
            <a:picLocks noChangeAspect="1" noChangeArrowheads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47" r="16365" b="16190"/>
          <a:stretch/>
        </p:blipFill>
        <p:spPr bwMode="auto">
          <a:xfrm>
            <a:off x="6051392" y="2125456"/>
            <a:ext cx="455578" cy="57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3" descr="C:\Users\BUHOLZFA\Downloads\noun_problem_2104842.png"/>
          <p:cNvPicPr>
            <a:picLocks noChangeAspect="1" noChangeArrowheads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691"/>
          <a:stretch/>
        </p:blipFill>
        <p:spPr bwMode="auto">
          <a:xfrm>
            <a:off x="5635741" y="3196135"/>
            <a:ext cx="640504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4" descr="C:\Users\BUHOLZFA\Downloads\noun_line chart_107909.png"/>
          <p:cNvPicPr>
            <a:picLocks noChangeAspect="1" noChangeArrowheads="1"/>
          </p:cNvPicPr>
          <p:nvPr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009"/>
          <a:stretch/>
        </p:blipFill>
        <p:spPr bwMode="auto">
          <a:xfrm>
            <a:off x="4382402" y="3799657"/>
            <a:ext cx="600064" cy="50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0" descr="C:\Users\BUHOLZFA\Downloads\noun_Meeting_842992.png"/>
          <p:cNvPicPr>
            <a:picLocks noChangeAspect="1" noChangeArrowheads="1"/>
          </p:cNvPicPr>
          <p:nvPr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74" r="6968" b="13908"/>
          <a:stretch/>
        </p:blipFill>
        <p:spPr bwMode="auto">
          <a:xfrm>
            <a:off x="3121441" y="3190382"/>
            <a:ext cx="623129" cy="61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" descr="C:\Users\BUHOLZFA\Downloads\noun_shelf_628038.png"/>
          <p:cNvPicPr>
            <a:picLocks noChangeAspect="1" noChangeArrowheads="1"/>
          </p:cNvPicPr>
          <p:nvPr/>
        </p:nvPicPr>
        <p:blipFill rotWithShape="1"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10" r="6119" b="12489"/>
          <a:stretch/>
        </p:blipFill>
        <p:spPr bwMode="auto">
          <a:xfrm>
            <a:off x="2746147" y="2185588"/>
            <a:ext cx="515282" cy="50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2" descr="C:\Users\BUHOLZFA\Downloads\noun_process_339021.png"/>
          <p:cNvPicPr>
            <a:picLocks noChangeAspect="1" noChangeArrowheads="1"/>
          </p:cNvPicPr>
          <p:nvPr/>
        </p:nvPicPr>
        <p:blipFill rotWithShape="1"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41" t="18307" r="25596" b="31807"/>
          <a:stretch/>
        </p:blipFill>
        <p:spPr bwMode="auto">
          <a:xfrm>
            <a:off x="3176656" y="1009456"/>
            <a:ext cx="524583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2636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Title Slide, Colo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387623175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09" name="think-cell Folie" r:id="rId4" imgW="270" imgH="270" progId="TCLayout.ActiveDocument.1">
                  <p:embed/>
                </p:oleObj>
              </mc:Choice>
              <mc:Fallback>
                <p:oleObj name="think-cell Folie" r:id="rId4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4"/>
          <p:cNvGrpSpPr/>
          <p:nvPr/>
        </p:nvGrpSpPr>
        <p:grpSpPr>
          <a:xfrm>
            <a:off x="601980" y="1323493"/>
            <a:ext cx="1802672" cy="335890"/>
            <a:chOff x="612775" y="1249363"/>
            <a:chExt cx="1695451" cy="315912"/>
          </a:xfrm>
        </p:grpSpPr>
        <p:sp>
          <p:nvSpPr>
            <p:cNvPr id="7" name="Freeform 5"/>
            <p:cNvSpPr>
              <a:spLocks noEditPoints="1"/>
            </p:cNvSpPr>
            <p:nvPr/>
          </p:nvSpPr>
          <p:spPr bwMode="auto">
            <a:xfrm>
              <a:off x="612775" y="1249363"/>
              <a:ext cx="571500" cy="309562"/>
            </a:xfrm>
            <a:custGeom>
              <a:avLst/>
              <a:gdLst>
                <a:gd name="T0" fmla="*/ 168 w 193"/>
                <a:gd name="T1" fmla="*/ 45 h 102"/>
                <a:gd name="T2" fmla="*/ 187 w 193"/>
                <a:gd name="T3" fmla="*/ 23 h 102"/>
                <a:gd name="T4" fmla="*/ 150 w 193"/>
                <a:gd name="T5" fmla="*/ 0 h 102"/>
                <a:gd name="T6" fmla="*/ 109 w 193"/>
                <a:gd name="T7" fmla="*/ 0 h 102"/>
                <a:gd name="T8" fmla="*/ 114 w 193"/>
                <a:gd name="T9" fmla="*/ 14 h 102"/>
                <a:gd name="T10" fmla="*/ 114 w 193"/>
                <a:gd name="T11" fmla="*/ 46 h 102"/>
                <a:gd name="T12" fmla="*/ 81 w 193"/>
                <a:gd name="T13" fmla="*/ 53 h 102"/>
                <a:gd name="T14" fmla="*/ 62 w 193"/>
                <a:gd name="T15" fmla="*/ 0 h 102"/>
                <a:gd name="T16" fmla="*/ 36 w 193"/>
                <a:gd name="T17" fmla="*/ 0 h 102"/>
                <a:gd name="T18" fmla="*/ 34 w 193"/>
                <a:gd name="T19" fmla="*/ 12 h 102"/>
                <a:gd name="T20" fmla="*/ 6 w 193"/>
                <a:gd name="T21" fmla="*/ 92 h 102"/>
                <a:gd name="T22" fmla="*/ 0 w 193"/>
                <a:gd name="T23" fmla="*/ 102 h 102"/>
                <a:gd name="T24" fmla="*/ 21 w 193"/>
                <a:gd name="T25" fmla="*/ 102 h 102"/>
                <a:gd name="T26" fmla="*/ 22 w 193"/>
                <a:gd name="T27" fmla="*/ 94 h 102"/>
                <a:gd name="T28" fmla="*/ 35 w 193"/>
                <a:gd name="T29" fmla="*/ 81 h 102"/>
                <a:gd name="T30" fmla="*/ 63 w 193"/>
                <a:gd name="T31" fmla="*/ 71 h 102"/>
                <a:gd name="T32" fmla="*/ 70 w 193"/>
                <a:gd name="T33" fmla="*/ 90 h 102"/>
                <a:gd name="T34" fmla="*/ 71 w 193"/>
                <a:gd name="T35" fmla="*/ 102 h 102"/>
                <a:gd name="T36" fmla="*/ 101 w 193"/>
                <a:gd name="T37" fmla="*/ 102 h 102"/>
                <a:gd name="T38" fmla="*/ 95 w 193"/>
                <a:gd name="T39" fmla="*/ 92 h 102"/>
                <a:gd name="T40" fmla="*/ 85 w 193"/>
                <a:gd name="T41" fmla="*/ 65 h 102"/>
                <a:gd name="T42" fmla="*/ 114 w 193"/>
                <a:gd name="T43" fmla="*/ 59 h 102"/>
                <a:gd name="T44" fmla="*/ 114 w 193"/>
                <a:gd name="T45" fmla="*/ 88 h 102"/>
                <a:gd name="T46" fmla="*/ 109 w 193"/>
                <a:gd name="T47" fmla="*/ 102 h 102"/>
                <a:gd name="T48" fmla="*/ 148 w 193"/>
                <a:gd name="T49" fmla="*/ 102 h 102"/>
                <a:gd name="T50" fmla="*/ 164 w 193"/>
                <a:gd name="T51" fmla="*/ 101 h 102"/>
                <a:gd name="T52" fmla="*/ 193 w 193"/>
                <a:gd name="T53" fmla="*/ 71 h 102"/>
                <a:gd name="T54" fmla="*/ 168 w 193"/>
                <a:gd name="T55" fmla="*/ 45 h 102"/>
                <a:gd name="T56" fmla="*/ 36 w 193"/>
                <a:gd name="T57" fmla="*/ 66 h 102"/>
                <a:gd name="T58" fmla="*/ 29 w 193"/>
                <a:gd name="T59" fmla="*/ 71 h 102"/>
                <a:gd name="T60" fmla="*/ 46 w 193"/>
                <a:gd name="T61" fmla="*/ 22 h 102"/>
                <a:gd name="T62" fmla="*/ 59 w 193"/>
                <a:gd name="T63" fmla="*/ 58 h 102"/>
                <a:gd name="T64" fmla="*/ 36 w 193"/>
                <a:gd name="T65" fmla="*/ 66 h 102"/>
                <a:gd name="T66" fmla="*/ 137 w 193"/>
                <a:gd name="T67" fmla="*/ 13 h 102"/>
                <a:gd name="T68" fmla="*/ 145 w 193"/>
                <a:gd name="T69" fmla="*/ 12 h 102"/>
                <a:gd name="T70" fmla="*/ 163 w 193"/>
                <a:gd name="T71" fmla="*/ 25 h 102"/>
                <a:gd name="T72" fmla="*/ 151 w 193"/>
                <a:gd name="T73" fmla="*/ 39 h 102"/>
                <a:gd name="T74" fmla="*/ 137 w 193"/>
                <a:gd name="T75" fmla="*/ 42 h 102"/>
                <a:gd name="T76" fmla="*/ 137 w 193"/>
                <a:gd name="T77" fmla="*/ 13 h 102"/>
                <a:gd name="T78" fmla="*/ 146 w 193"/>
                <a:gd name="T79" fmla="*/ 90 h 102"/>
                <a:gd name="T80" fmla="*/ 137 w 193"/>
                <a:gd name="T81" fmla="*/ 90 h 102"/>
                <a:gd name="T82" fmla="*/ 137 w 193"/>
                <a:gd name="T83" fmla="*/ 55 h 102"/>
                <a:gd name="T84" fmla="*/ 150 w 193"/>
                <a:gd name="T85" fmla="*/ 53 h 102"/>
                <a:gd name="T86" fmla="*/ 169 w 193"/>
                <a:gd name="T87" fmla="*/ 72 h 102"/>
                <a:gd name="T88" fmla="*/ 146 w 193"/>
                <a:gd name="T89" fmla="*/ 90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93" h="102">
                  <a:moveTo>
                    <a:pt x="168" y="45"/>
                  </a:moveTo>
                  <a:cubicBezTo>
                    <a:pt x="182" y="40"/>
                    <a:pt x="187" y="32"/>
                    <a:pt x="187" y="23"/>
                  </a:cubicBezTo>
                  <a:cubicBezTo>
                    <a:pt x="187" y="7"/>
                    <a:pt x="173" y="0"/>
                    <a:pt x="150" y="0"/>
                  </a:cubicBezTo>
                  <a:cubicBezTo>
                    <a:pt x="109" y="0"/>
                    <a:pt x="109" y="0"/>
                    <a:pt x="109" y="0"/>
                  </a:cubicBezTo>
                  <a:cubicBezTo>
                    <a:pt x="112" y="4"/>
                    <a:pt x="114" y="8"/>
                    <a:pt x="114" y="14"/>
                  </a:cubicBezTo>
                  <a:cubicBezTo>
                    <a:pt x="114" y="46"/>
                    <a:pt x="114" y="46"/>
                    <a:pt x="114" y="46"/>
                  </a:cubicBezTo>
                  <a:cubicBezTo>
                    <a:pt x="102" y="48"/>
                    <a:pt x="91" y="50"/>
                    <a:pt x="81" y="53"/>
                  </a:cubicBezTo>
                  <a:cubicBezTo>
                    <a:pt x="72" y="28"/>
                    <a:pt x="62" y="0"/>
                    <a:pt x="62" y="0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37" y="3"/>
                    <a:pt x="36" y="7"/>
                    <a:pt x="34" y="12"/>
                  </a:cubicBezTo>
                  <a:cubicBezTo>
                    <a:pt x="6" y="92"/>
                    <a:pt x="6" y="92"/>
                    <a:pt x="6" y="92"/>
                  </a:cubicBezTo>
                  <a:cubicBezTo>
                    <a:pt x="6" y="92"/>
                    <a:pt x="4" y="97"/>
                    <a:pt x="0" y="102"/>
                  </a:cubicBezTo>
                  <a:cubicBezTo>
                    <a:pt x="21" y="102"/>
                    <a:pt x="21" y="102"/>
                    <a:pt x="21" y="102"/>
                  </a:cubicBezTo>
                  <a:cubicBezTo>
                    <a:pt x="20" y="99"/>
                    <a:pt x="21" y="96"/>
                    <a:pt x="22" y="94"/>
                  </a:cubicBezTo>
                  <a:cubicBezTo>
                    <a:pt x="24" y="87"/>
                    <a:pt x="29" y="83"/>
                    <a:pt x="35" y="81"/>
                  </a:cubicBezTo>
                  <a:cubicBezTo>
                    <a:pt x="43" y="77"/>
                    <a:pt x="57" y="73"/>
                    <a:pt x="63" y="71"/>
                  </a:cubicBezTo>
                  <a:cubicBezTo>
                    <a:pt x="70" y="90"/>
                    <a:pt x="70" y="90"/>
                    <a:pt x="70" y="90"/>
                  </a:cubicBezTo>
                  <a:cubicBezTo>
                    <a:pt x="70" y="90"/>
                    <a:pt x="73" y="98"/>
                    <a:pt x="71" y="102"/>
                  </a:cubicBezTo>
                  <a:cubicBezTo>
                    <a:pt x="101" y="102"/>
                    <a:pt x="101" y="102"/>
                    <a:pt x="101" y="102"/>
                  </a:cubicBezTo>
                  <a:cubicBezTo>
                    <a:pt x="97" y="96"/>
                    <a:pt x="95" y="92"/>
                    <a:pt x="95" y="92"/>
                  </a:cubicBezTo>
                  <a:cubicBezTo>
                    <a:pt x="94" y="90"/>
                    <a:pt x="90" y="79"/>
                    <a:pt x="85" y="65"/>
                  </a:cubicBezTo>
                  <a:cubicBezTo>
                    <a:pt x="94" y="63"/>
                    <a:pt x="104" y="61"/>
                    <a:pt x="114" y="59"/>
                  </a:cubicBezTo>
                  <a:cubicBezTo>
                    <a:pt x="114" y="88"/>
                    <a:pt x="114" y="88"/>
                    <a:pt x="114" y="88"/>
                  </a:cubicBezTo>
                  <a:cubicBezTo>
                    <a:pt x="114" y="93"/>
                    <a:pt x="112" y="98"/>
                    <a:pt x="109" y="102"/>
                  </a:cubicBezTo>
                  <a:cubicBezTo>
                    <a:pt x="148" y="102"/>
                    <a:pt x="148" y="102"/>
                    <a:pt x="148" y="102"/>
                  </a:cubicBezTo>
                  <a:cubicBezTo>
                    <a:pt x="154" y="102"/>
                    <a:pt x="160" y="102"/>
                    <a:pt x="164" y="101"/>
                  </a:cubicBezTo>
                  <a:cubicBezTo>
                    <a:pt x="181" y="98"/>
                    <a:pt x="193" y="90"/>
                    <a:pt x="193" y="71"/>
                  </a:cubicBezTo>
                  <a:cubicBezTo>
                    <a:pt x="193" y="58"/>
                    <a:pt x="184" y="49"/>
                    <a:pt x="168" y="45"/>
                  </a:cubicBezTo>
                  <a:moveTo>
                    <a:pt x="36" y="66"/>
                  </a:moveTo>
                  <a:cubicBezTo>
                    <a:pt x="34" y="67"/>
                    <a:pt x="31" y="69"/>
                    <a:pt x="29" y="71"/>
                  </a:cubicBezTo>
                  <a:cubicBezTo>
                    <a:pt x="35" y="55"/>
                    <a:pt x="42" y="32"/>
                    <a:pt x="46" y="22"/>
                  </a:cubicBezTo>
                  <a:cubicBezTo>
                    <a:pt x="59" y="58"/>
                    <a:pt x="59" y="58"/>
                    <a:pt x="59" y="58"/>
                  </a:cubicBezTo>
                  <a:cubicBezTo>
                    <a:pt x="53" y="60"/>
                    <a:pt x="43" y="63"/>
                    <a:pt x="36" y="66"/>
                  </a:cubicBezTo>
                  <a:close/>
                  <a:moveTo>
                    <a:pt x="137" y="13"/>
                  </a:moveTo>
                  <a:cubicBezTo>
                    <a:pt x="141" y="12"/>
                    <a:pt x="142" y="12"/>
                    <a:pt x="145" y="12"/>
                  </a:cubicBezTo>
                  <a:cubicBezTo>
                    <a:pt x="157" y="12"/>
                    <a:pt x="163" y="18"/>
                    <a:pt x="163" y="25"/>
                  </a:cubicBezTo>
                  <a:cubicBezTo>
                    <a:pt x="163" y="32"/>
                    <a:pt x="159" y="36"/>
                    <a:pt x="151" y="39"/>
                  </a:cubicBezTo>
                  <a:cubicBezTo>
                    <a:pt x="148" y="40"/>
                    <a:pt x="142" y="41"/>
                    <a:pt x="137" y="42"/>
                  </a:cubicBezTo>
                  <a:lnTo>
                    <a:pt x="137" y="13"/>
                  </a:lnTo>
                  <a:close/>
                  <a:moveTo>
                    <a:pt x="146" y="90"/>
                  </a:moveTo>
                  <a:cubicBezTo>
                    <a:pt x="137" y="90"/>
                    <a:pt x="137" y="90"/>
                    <a:pt x="137" y="90"/>
                  </a:cubicBezTo>
                  <a:cubicBezTo>
                    <a:pt x="137" y="55"/>
                    <a:pt x="137" y="55"/>
                    <a:pt x="137" y="55"/>
                  </a:cubicBezTo>
                  <a:cubicBezTo>
                    <a:pt x="140" y="55"/>
                    <a:pt x="146" y="54"/>
                    <a:pt x="150" y="53"/>
                  </a:cubicBezTo>
                  <a:cubicBezTo>
                    <a:pt x="161" y="56"/>
                    <a:pt x="169" y="60"/>
                    <a:pt x="169" y="72"/>
                  </a:cubicBezTo>
                  <a:cubicBezTo>
                    <a:pt x="169" y="86"/>
                    <a:pt x="159" y="90"/>
                    <a:pt x="146" y="9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6"/>
            <p:cNvSpPr>
              <a:spLocks/>
            </p:cNvSpPr>
            <p:nvPr/>
          </p:nvSpPr>
          <p:spPr bwMode="auto">
            <a:xfrm>
              <a:off x="1217613" y="1249363"/>
              <a:ext cx="96838" cy="309562"/>
            </a:xfrm>
            <a:custGeom>
              <a:avLst/>
              <a:gdLst>
                <a:gd name="T0" fmla="*/ 0 w 33"/>
                <a:gd name="T1" fmla="*/ 102 h 102"/>
                <a:gd name="T2" fmla="*/ 5 w 33"/>
                <a:gd name="T3" fmla="*/ 88 h 102"/>
                <a:gd name="T4" fmla="*/ 5 w 33"/>
                <a:gd name="T5" fmla="*/ 14 h 102"/>
                <a:gd name="T6" fmla="*/ 0 w 33"/>
                <a:gd name="T7" fmla="*/ 0 h 102"/>
                <a:gd name="T8" fmla="*/ 33 w 33"/>
                <a:gd name="T9" fmla="*/ 0 h 102"/>
                <a:gd name="T10" fmla="*/ 27 w 33"/>
                <a:gd name="T11" fmla="*/ 14 h 102"/>
                <a:gd name="T12" fmla="*/ 27 w 33"/>
                <a:gd name="T13" fmla="*/ 88 h 102"/>
                <a:gd name="T14" fmla="*/ 32 w 33"/>
                <a:gd name="T15" fmla="*/ 102 h 102"/>
                <a:gd name="T16" fmla="*/ 0 w 33"/>
                <a:gd name="T17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3" h="102">
                  <a:moveTo>
                    <a:pt x="0" y="102"/>
                  </a:moveTo>
                  <a:cubicBezTo>
                    <a:pt x="5" y="95"/>
                    <a:pt x="5" y="88"/>
                    <a:pt x="5" y="88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5" y="14"/>
                    <a:pt x="5" y="7"/>
                    <a:pt x="0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27" y="7"/>
                    <a:pt x="27" y="14"/>
                    <a:pt x="27" y="14"/>
                  </a:cubicBezTo>
                  <a:cubicBezTo>
                    <a:pt x="27" y="88"/>
                    <a:pt x="27" y="88"/>
                    <a:pt x="27" y="88"/>
                  </a:cubicBezTo>
                  <a:cubicBezTo>
                    <a:pt x="27" y="88"/>
                    <a:pt x="27" y="95"/>
                    <a:pt x="32" y="102"/>
                  </a:cubicBezTo>
                  <a:lnTo>
                    <a:pt x="0" y="102"/>
                  </a:lnTo>
                  <a:close/>
                </a:path>
              </a:pathLst>
            </a:custGeom>
            <a:solidFill>
              <a:srgbClr val="E5A8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7"/>
            <p:cNvSpPr>
              <a:spLocks/>
            </p:cNvSpPr>
            <p:nvPr/>
          </p:nvSpPr>
          <p:spPr bwMode="auto">
            <a:xfrm>
              <a:off x="2068513" y="1339850"/>
              <a:ext cx="239713" cy="219075"/>
            </a:xfrm>
            <a:custGeom>
              <a:avLst/>
              <a:gdLst>
                <a:gd name="T0" fmla="*/ 81 w 81"/>
                <a:gd name="T1" fmla="*/ 0 h 72"/>
                <a:gd name="T2" fmla="*/ 59 w 81"/>
                <a:gd name="T3" fmla="*/ 0 h 72"/>
                <a:gd name="T4" fmla="*/ 59 w 81"/>
                <a:gd name="T5" fmla="*/ 13 h 72"/>
                <a:gd name="T6" fmla="*/ 44 w 81"/>
                <a:gd name="T7" fmla="*/ 51 h 72"/>
                <a:gd name="T8" fmla="*/ 29 w 81"/>
                <a:gd name="T9" fmla="*/ 13 h 72"/>
                <a:gd name="T10" fmla="*/ 29 w 81"/>
                <a:gd name="T11" fmla="*/ 0 h 72"/>
                <a:gd name="T12" fmla="*/ 0 w 81"/>
                <a:gd name="T13" fmla="*/ 0 h 72"/>
                <a:gd name="T14" fmla="*/ 8 w 81"/>
                <a:gd name="T15" fmla="*/ 13 h 72"/>
                <a:gd name="T16" fmla="*/ 32 w 81"/>
                <a:gd name="T17" fmla="*/ 72 h 72"/>
                <a:gd name="T18" fmla="*/ 51 w 81"/>
                <a:gd name="T19" fmla="*/ 72 h 72"/>
                <a:gd name="T20" fmla="*/ 54 w 81"/>
                <a:gd name="T21" fmla="*/ 62 h 72"/>
                <a:gd name="T22" fmla="*/ 54 w 81"/>
                <a:gd name="T23" fmla="*/ 62 h 72"/>
                <a:gd name="T24" fmla="*/ 74 w 81"/>
                <a:gd name="T25" fmla="*/ 13 h 72"/>
                <a:gd name="T26" fmla="*/ 81 w 81"/>
                <a:gd name="T27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1" h="72">
                  <a:moveTo>
                    <a:pt x="81" y="0"/>
                  </a:moveTo>
                  <a:cubicBezTo>
                    <a:pt x="59" y="0"/>
                    <a:pt x="59" y="0"/>
                    <a:pt x="59" y="0"/>
                  </a:cubicBezTo>
                  <a:cubicBezTo>
                    <a:pt x="61" y="3"/>
                    <a:pt x="60" y="8"/>
                    <a:pt x="59" y="13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29" y="13"/>
                    <a:pt x="29" y="13"/>
                    <a:pt x="29" y="13"/>
                  </a:cubicBezTo>
                  <a:cubicBezTo>
                    <a:pt x="27" y="8"/>
                    <a:pt x="27" y="3"/>
                    <a:pt x="2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4"/>
                    <a:pt x="7" y="9"/>
                    <a:pt x="8" y="13"/>
                  </a:cubicBezTo>
                  <a:cubicBezTo>
                    <a:pt x="32" y="72"/>
                    <a:pt x="32" y="72"/>
                    <a:pt x="32" y="72"/>
                  </a:cubicBezTo>
                  <a:cubicBezTo>
                    <a:pt x="51" y="72"/>
                    <a:pt x="51" y="72"/>
                    <a:pt x="51" y="72"/>
                  </a:cubicBezTo>
                  <a:cubicBezTo>
                    <a:pt x="51" y="72"/>
                    <a:pt x="52" y="67"/>
                    <a:pt x="54" y="62"/>
                  </a:cubicBezTo>
                  <a:cubicBezTo>
                    <a:pt x="54" y="62"/>
                    <a:pt x="54" y="62"/>
                    <a:pt x="54" y="62"/>
                  </a:cubicBezTo>
                  <a:cubicBezTo>
                    <a:pt x="74" y="13"/>
                    <a:pt x="74" y="13"/>
                    <a:pt x="74" y="13"/>
                  </a:cubicBezTo>
                  <a:cubicBezTo>
                    <a:pt x="75" y="9"/>
                    <a:pt x="78" y="4"/>
                    <a:pt x="81" y="0"/>
                  </a:cubicBezTo>
                </a:path>
              </a:pathLst>
            </a:custGeom>
            <a:solidFill>
              <a:srgbClr val="E5A8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8"/>
            <p:cNvSpPr>
              <a:spLocks noEditPoints="1"/>
            </p:cNvSpPr>
            <p:nvPr/>
          </p:nvSpPr>
          <p:spPr bwMode="auto">
            <a:xfrm>
              <a:off x="1860550" y="1331913"/>
              <a:ext cx="219075" cy="233362"/>
            </a:xfrm>
            <a:custGeom>
              <a:avLst/>
              <a:gdLst>
                <a:gd name="T0" fmla="*/ 73 w 74"/>
                <a:gd name="T1" fmla="*/ 41 h 77"/>
                <a:gd name="T2" fmla="*/ 37 w 74"/>
                <a:gd name="T3" fmla="*/ 0 h 77"/>
                <a:gd name="T4" fmla="*/ 0 w 74"/>
                <a:gd name="T5" fmla="*/ 37 h 77"/>
                <a:gd name="T6" fmla="*/ 43 w 74"/>
                <a:gd name="T7" fmla="*/ 77 h 77"/>
                <a:gd name="T8" fmla="*/ 72 w 74"/>
                <a:gd name="T9" fmla="*/ 70 h 77"/>
                <a:gd name="T10" fmla="*/ 66 w 74"/>
                <a:gd name="T11" fmla="*/ 56 h 77"/>
                <a:gd name="T12" fmla="*/ 45 w 74"/>
                <a:gd name="T13" fmla="*/ 62 h 77"/>
                <a:gd name="T14" fmla="*/ 21 w 74"/>
                <a:gd name="T15" fmla="*/ 43 h 77"/>
                <a:gd name="T16" fmla="*/ 51 w 74"/>
                <a:gd name="T17" fmla="*/ 43 h 77"/>
                <a:gd name="T18" fmla="*/ 73 w 74"/>
                <a:gd name="T19" fmla="*/ 41 h 77"/>
                <a:gd name="T20" fmla="*/ 21 w 74"/>
                <a:gd name="T21" fmla="*/ 31 h 77"/>
                <a:gd name="T22" fmla="*/ 37 w 74"/>
                <a:gd name="T23" fmla="*/ 13 h 77"/>
                <a:gd name="T24" fmla="*/ 52 w 74"/>
                <a:gd name="T25" fmla="*/ 31 h 77"/>
                <a:gd name="T26" fmla="*/ 42 w 74"/>
                <a:gd name="T27" fmla="*/ 31 h 77"/>
                <a:gd name="T28" fmla="*/ 21 w 74"/>
                <a:gd name="T29" fmla="*/ 31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4" h="77">
                  <a:moveTo>
                    <a:pt x="73" y="41"/>
                  </a:moveTo>
                  <a:cubicBezTo>
                    <a:pt x="74" y="26"/>
                    <a:pt x="70" y="0"/>
                    <a:pt x="37" y="0"/>
                  </a:cubicBezTo>
                  <a:cubicBezTo>
                    <a:pt x="10" y="0"/>
                    <a:pt x="0" y="19"/>
                    <a:pt x="0" y="37"/>
                  </a:cubicBezTo>
                  <a:cubicBezTo>
                    <a:pt x="0" y="61"/>
                    <a:pt x="13" y="77"/>
                    <a:pt x="43" y="77"/>
                  </a:cubicBezTo>
                  <a:cubicBezTo>
                    <a:pt x="56" y="77"/>
                    <a:pt x="66" y="73"/>
                    <a:pt x="72" y="70"/>
                  </a:cubicBezTo>
                  <a:cubicBezTo>
                    <a:pt x="66" y="56"/>
                    <a:pt x="66" y="56"/>
                    <a:pt x="66" y="56"/>
                  </a:cubicBezTo>
                  <a:cubicBezTo>
                    <a:pt x="60" y="59"/>
                    <a:pt x="53" y="62"/>
                    <a:pt x="45" y="62"/>
                  </a:cubicBezTo>
                  <a:cubicBezTo>
                    <a:pt x="31" y="62"/>
                    <a:pt x="23" y="57"/>
                    <a:pt x="21" y="43"/>
                  </a:cubicBezTo>
                  <a:cubicBezTo>
                    <a:pt x="51" y="43"/>
                    <a:pt x="51" y="43"/>
                    <a:pt x="51" y="43"/>
                  </a:cubicBezTo>
                  <a:cubicBezTo>
                    <a:pt x="61" y="43"/>
                    <a:pt x="70" y="43"/>
                    <a:pt x="73" y="41"/>
                  </a:cubicBezTo>
                  <a:moveTo>
                    <a:pt x="21" y="31"/>
                  </a:moveTo>
                  <a:cubicBezTo>
                    <a:pt x="22" y="19"/>
                    <a:pt x="27" y="13"/>
                    <a:pt x="37" y="13"/>
                  </a:cubicBezTo>
                  <a:cubicBezTo>
                    <a:pt x="47" y="13"/>
                    <a:pt x="52" y="21"/>
                    <a:pt x="52" y="31"/>
                  </a:cubicBezTo>
                  <a:cubicBezTo>
                    <a:pt x="52" y="31"/>
                    <a:pt x="48" y="31"/>
                    <a:pt x="42" y="31"/>
                  </a:cubicBezTo>
                  <a:lnTo>
                    <a:pt x="21" y="31"/>
                  </a:lnTo>
                  <a:close/>
                </a:path>
              </a:pathLst>
            </a:custGeom>
            <a:solidFill>
              <a:srgbClr val="E5A8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9"/>
            <p:cNvSpPr>
              <a:spLocks/>
            </p:cNvSpPr>
            <p:nvPr/>
          </p:nvSpPr>
          <p:spPr bwMode="auto">
            <a:xfrm>
              <a:off x="1338263" y="1338263"/>
              <a:ext cx="228600" cy="220662"/>
            </a:xfrm>
            <a:custGeom>
              <a:avLst/>
              <a:gdLst>
                <a:gd name="T0" fmla="*/ 48 w 77"/>
                <a:gd name="T1" fmla="*/ 73 h 73"/>
                <a:gd name="T2" fmla="*/ 77 w 77"/>
                <a:gd name="T3" fmla="*/ 73 h 73"/>
                <a:gd name="T4" fmla="*/ 73 w 77"/>
                <a:gd name="T5" fmla="*/ 60 h 73"/>
                <a:gd name="T6" fmla="*/ 73 w 77"/>
                <a:gd name="T7" fmla="*/ 22 h 73"/>
                <a:gd name="T8" fmla="*/ 50 w 77"/>
                <a:gd name="T9" fmla="*/ 0 h 73"/>
                <a:gd name="T10" fmla="*/ 25 w 77"/>
                <a:gd name="T11" fmla="*/ 10 h 73"/>
                <a:gd name="T12" fmla="*/ 25 w 77"/>
                <a:gd name="T13" fmla="*/ 1 h 73"/>
                <a:gd name="T14" fmla="*/ 0 w 77"/>
                <a:gd name="T15" fmla="*/ 1 h 73"/>
                <a:gd name="T16" fmla="*/ 5 w 77"/>
                <a:gd name="T17" fmla="*/ 14 h 73"/>
                <a:gd name="T18" fmla="*/ 5 w 77"/>
                <a:gd name="T19" fmla="*/ 60 h 73"/>
                <a:gd name="T20" fmla="*/ 0 w 77"/>
                <a:gd name="T21" fmla="*/ 73 h 73"/>
                <a:gd name="T22" fmla="*/ 30 w 77"/>
                <a:gd name="T23" fmla="*/ 73 h 73"/>
                <a:gd name="T24" fmla="*/ 25 w 77"/>
                <a:gd name="T25" fmla="*/ 60 h 73"/>
                <a:gd name="T26" fmla="*/ 25 w 77"/>
                <a:gd name="T27" fmla="*/ 22 h 73"/>
                <a:gd name="T28" fmla="*/ 40 w 77"/>
                <a:gd name="T29" fmla="*/ 15 h 73"/>
                <a:gd name="T30" fmla="*/ 52 w 77"/>
                <a:gd name="T31" fmla="*/ 28 h 73"/>
                <a:gd name="T32" fmla="*/ 52 w 77"/>
                <a:gd name="T33" fmla="*/ 60 h 73"/>
                <a:gd name="T34" fmla="*/ 48 w 77"/>
                <a:gd name="T35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77" h="73">
                  <a:moveTo>
                    <a:pt x="48" y="73"/>
                  </a:moveTo>
                  <a:cubicBezTo>
                    <a:pt x="77" y="73"/>
                    <a:pt x="77" y="73"/>
                    <a:pt x="77" y="73"/>
                  </a:cubicBezTo>
                  <a:cubicBezTo>
                    <a:pt x="73" y="67"/>
                    <a:pt x="73" y="61"/>
                    <a:pt x="73" y="60"/>
                  </a:cubicBezTo>
                  <a:cubicBezTo>
                    <a:pt x="73" y="22"/>
                    <a:pt x="73" y="22"/>
                    <a:pt x="73" y="22"/>
                  </a:cubicBezTo>
                  <a:cubicBezTo>
                    <a:pt x="73" y="8"/>
                    <a:pt x="65" y="0"/>
                    <a:pt x="50" y="0"/>
                  </a:cubicBezTo>
                  <a:cubicBezTo>
                    <a:pt x="40" y="0"/>
                    <a:pt x="31" y="4"/>
                    <a:pt x="25" y="10"/>
                  </a:cubicBezTo>
                  <a:cubicBezTo>
                    <a:pt x="25" y="1"/>
                    <a:pt x="25" y="1"/>
                    <a:pt x="25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5" y="8"/>
                    <a:pt x="5" y="14"/>
                    <a:pt x="5" y="14"/>
                  </a:cubicBezTo>
                  <a:cubicBezTo>
                    <a:pt x="5" y="60"/>
                    <a:pt x="5" y="60"/>
                    <a:pt x="5" y="60"/>
                  </a:cubicBezTo>
                  <a:cubicBezTo>
                    <a:pt x="5" y="61"/>
                    <a:pt x="5" y="67"/>
                    <a:pt x="0" y="73"/>
                  </a:cubicBezTo>
                  <a:cubicBezTo>
                    <a:pt x="30" y="73"/>
                    <a:pt x="30" y="73"/>
                    <a:pt x="30" y="73"/>
                  </a:cubicBezTo>
                  <a:cubicBezTo>
                    <a:pt x="25" y="67"/>
                    <a:pt x="25" y="61"/>
                    <a:pt x="25" y="60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9" y="18"/>
                    <a:pt x="34" y="15"/>
                    <a:pt x="40" y="15"/>
                  </a:cubicBezTo>
                  <a:cubicBezTo>
                    <a:pt x="49" y="15"/>
                    <a:pt x="52" y="20"/>
                    <a:pt x="52" y="28"/>
                  </a:cubicBezTo>
                  <a:cubicBezTo>
                    <a:pt x="52" y="60"/>
                    <a:pt x="52" y="60"/>
                    <a:pt x="52" y="60"/>
                  </a:cubicBezTo>
                  <a:cubicBezTo>
                    <a:pt x="52" y="61"/>
                    <a:pt x="52" y="67"/>
                    <a:pt x="48" y="73"/>
                  </a:cubicBezTo>
                </a:path>
              </a:pathLst>
            </a:custGeom>
            <a:solidFill>
              <a:srgbClr val="E5A8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0"/>
            <p:cNvSpPr>
              <a:spLocks noEditPoints="1"/>
            </p:cNvSpPr>
            <p:nvPr/>
          </p:nvSpPr>
          <p:spPr bwMode="auto">
            <a:xfrm>
              <a:off x="1597025" y="1249363"/>
              <a:ext cx="242888" cy="309562"/>
            </a:xfrm>
            <a:custGeom>
              <a:avLst/>
              <a:gdLst>
                <a:gd name="T0" fmla="*/ 37 w 82"/>
                <a:gd name="T1" fmla="*/ 54 h 102"/>
                <a:gd name="T2" fmla="*/ 59 w 82"/>
                <a:gd name="T3" fmla="*/ 72 h 102"/>
                <a:gd name="T4" fmla="*/ 36 w 82"/>
                <a:gd name="T5" fmla="*/ 90 h 102"/>
                <a:gd name="T6" fmla="*/ 26 w 82"/>
                <a:gd name="T7" fmla="*/ 90 h 102"/>
                <a:gd name="T8" fmla="*/ 26 w 82"/>
                <a:gd name="T9" fmla="*/ 54 h 102"/>
                <a:gd name="T10" fmla="*/ 37 w 82"/>
                <a:gd name="T11" fmla="*/ 54 h 102"/>
                <a:gd name="T12" fmla="*/ 34 w 82"/>
                <a:gd name="T13" fmla="*/ 12 h 102"/>
                <a:gd name="T14" fmla="*/ 53 w 82"/>
                <a:gd name="T15" fmla="*/ 26 h 102"/>
                <a:gd name="T16" fmla="*/ 35 w 82"/>
                <a:gd name="T17" fmla="*/ 41 h 102"/>
                <a:gd name="T18" fmla="*/ 26 w 82"/>
                <a:gd name="T19" fmla="*/ 41 h 102"/>
                <a:gd name="T20" fmla="*/ 26 w 82"/>
                <a:gd name="T21" fmla="*/ 12 h 102"/>
                <a:gd name="T22" fmla="*/ 34 w 82"/>
                <a:gd name="T23" fmla="*/ 12 h 102"/>
                <a:gd name="T24" fmla="*/ 37 w 82"/>
                <a:gd name="T25" fmla="*/ 102 h 102"/>
                <a:gd name="T26" fmla="*/ 54 w 82"/>
                <a:gd name="T27" fmla="*/ 101 h 102"/>
                <a:gd name="T28" fmla="*/ 82 w 82"/>
                <a:gd name="T29" fmla="*/ 72 h 102"/>
                <a:gd name="T30" fmla="*/ 58 w 82"/>
                <a:gd name="T31" fmla="*/ 45 h 102"/>
                <a:gd name="T32" fmla="*/ 76 w 82"/>
                <a:gd name="T33" fmla="*/ 24 h 102"/>
                <a:gd name="T34" fmla="*/ 39 w 82"/>
                <a:gd name="T35" fmla="*/ 0 h 102"/>
                <a:gd name="T36" fmla="*/ 0 w 82"/>
                <a:gd name="T37" fmla="*/ 0 h 102"/>
                <a:gd name="T38" fmla="*/ 4 w 82"/>
                <a:gd name="T39" fmla="*/ 14 h 102"/>
                <a:gd name="T40" fmla="*/ 4 w 82"/>
                <a:gd name="T41" fmla="*/ 88 h 102"/>
                <a:gd name="T42" fmla="*/ 0 w 82"/>
                <a:gd name="T43" fmla="*/ 102 h 102"/>
                <a:gd name="T44" fmla="*/ 37 w 82"/>
                <a:gd name="T45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2" h="102">
                  <a:moveTo>
                    <a:pt x="37" y="54"/>
                  </a:moveTo>
                  <a:cubicBezTo>
                    <a:pt x="51" y="54"/>
                    <a:pt x="59" y="61"/>
                    <a:pt x="59" y="72"/>
                  </a:cubicBezTo>
                  <a:cubicBezTo>
                    <a:pt x="59" y="82"/>
                    <a:pt x="53" y="90"/>
                    <a:pt x="36" y="90"/>
                  </a:cubicBezTo>
                  <a:cubicBezTo>
                    <a:pt x="26" y="90"/>
                    <a:pt x="26" y="90"/>
                    <a:pt x="26" y="90"/>
                  </a:cubicBezTo>
                  <a:cubicBezTo>
                    <a:pt x="26" y="54"/>
                    <a:pt x="26" y="54"/>
                    <a:pt x="26" y="54"/>
                  </a:cubicBezTo>
                  <a:lnTo>
                    <a:pt x="37" y="54"/>
                  </a:lnTo>
                  <a:close/>
                  <a:moveTo>
                    <a:pt x="34" y="12"/>
                  </a:moveTo>
                  <a:cubicBezTo>
                    <a:pt x="47" y="12"/>
                    <a:pt x="53" y="17"/>
                    <a:pt x="53" y="26"/>
                  </a:cubicBezTo>
                  <a:cubicBezTo>
                    <a:pt x="53" y="36"/>
                    <a:pt x="48" y="41"/>
                    <a:pt x="35" y="41"/>
                  </a:cubicBezTo>
                  <a:cubicBezTo>
                    <a:pt x="33" y="41"/>
                    <a:pt x="29" y="41"/>
                    <a:pt x="26" y="41"/>
                  </a:cubicBezTo>
                  <a:cubicBezTo>
                    <a:pt x="26" y="12"/>
                    <a:pt x="26" y="12"/>
                    <a:pt x="26" y="12"/>
                  </a:cubicBezTo>
                  <a:lnTo>
                    <a:pt x="34" y="12"/>
                  </a:lnTo>
                  <a:close/>
                  <a:moveTo>
                    <a:pt x="37" y="102"/>
                  </a:moveTo>
                  <a:cubicBezTo>
                    <a:pt x="43" y="102"/>
                    <a:pt x="49" y="102"/>
                    <a:pt x="54" y="101"/>
                  </a:cubicBezTo>
                  <a:cubicBezTo>
                    <a:pt x="70" y="98"/>
                    <a:pt x="82" y="90"/>
                    <a:pt x="82" y="72"/>
                  </a:cubicBezTo>
                  <a:cubicBezTo>
                    <a:pt x="82" y="57"/>
                    <a:pt x="73" y="50"/>
                    <a:pt x="58" y="45"/>
                  </a:cubicBezTo>
                  <a:cubicBezTo>
                    <a:pt x="71" y="40"/>
                    <a:pt x="76" y="33"/>
                    <a:pt x="76" y="24"/>
                  </a:cubicBezTo>
                  <a:cubicBezTo>
                    <a:pt x="76" y="8"/>
                    <a:pt x="63" y="0"/>
                    <a:pt x="3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" y="4"/>
                    <a:pt x="4" y="10"/>
                    <a:pt x="4" y="14"/>
                  </a:cubicBezTo>
                  <a:cubicBezTo>
                    <a:pt x="4" y="88"/>
                    <a:pt x="4" y="88"/>
                    <a:pt x="4" y="88"/>
                  </a:cubicBezTo>
                  <a:cubicBezTo>
                    <a:pt x="4" y="93"/>
                    <a:pt x="3" y="98"/>
                    <a:pt x="0" y="102"/>
                  </a:cubicBezTo>
                  <a:lnTo>
                    <a:pt x="37" y="102"/>
                  </a:lnTo>
                  <a:close/>
                </a:path>
              </a:pathLst>
            </a:custGeom>
            <a:solidFill>
              <a:srgbClr val="E5A8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13091" y="1829691"/>
            <a:ext cx="6142651" cy="2013857"/>
          </a:xfrm>
        </p:spPr>
        <p:txBody>
          <a:bodyPr vert="horz" lIns="0" tIns="0" rIns="0" bIns="0" rtlCol="0" anchor="ctr" anchorCtr="0">
            <a:noAutofit/>
          </a:bodyPr>
          <a:lstStyle>
            <a:lvl1pPr>
              <a:lnSpc>
                <a:spcPts val="5250"/>
              </a:lnSpc>
              <a:defRPr lang="en-US" sz="5400" baseline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1888" y="4329822"/>
            <a:ext cx="4361543" cy="494364"/>
          </a:xfrm>
        </p:spPr>
        <p:txBody>
          <a:bodyPr vert="horz" lIns="0" tIns="0" rIns="0" bIns="0" rtlCol="0" anchor="ctr" anchorCtr="0">
            <a:noAutofit/>
          </a:bodyPr>
          <a:lstStyle>
            <a:lvl1pPr>
              <a:defRPr lang="en-US" sz="1350" b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lnSpc>
                <a:spcPct val="90000"/>
              </a:lnSpc>
              <a:spcBef>
                <a:spcPct val="0"/>
              </a:spcBef>
            </a:pPr>
            <a:r>
              <a:rPr lang="es-ES"/>
              <a:t>Haga clic para modificar el estilo de subtítulo del patrón</a:t>
            </a:r>
            <a:endParaRPr lang="en-US" dirty="0"/>
          </a:p>
        </p:txBody>
      </p:sp>
      <p:pic>
        <p:nvPicPr>
          <p:cNvPr id="4202" name="Picture 106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62" r="4386"/>
          <a:stretch/>
        </p:blipFill>
        <p:spPr bwMode="auto">
          <a:xfrm>
            <a:off x="407512" y="1783259"/>
            <a:ext cx="2174728" cy="2126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96330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ree line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1899896"/>
            <a:ext cx="2641600" cy="1379254"/>
          </a:xfrm>
        </p:spPr>
        <p:txBody>
          <a:bodyPr anchor="ctr" anchorCtr="0">
            <a:noAutofit/>
          </a:bodyPr>
          <a:lstStyle>
            <a:lvl1pPr algn="l">
              <a:defRPr sz="320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20888" y="1691451"/>
            <a:ext cx="4698999" cy="1796144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1400" baseline="0">
                <a:solidFill>
                  <a:schemeClr val="bg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2" y="-1"/>
            <a:ext cx="2285999" cy="843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/>
          </a:p>
        </p:txBody>
      </p:sp>
      <p:sp>
        <p:nvSpPr>
          <p:cNvPr id="13" name="Rectangle 12"/>
          <p:cNvSpPr/>
          <p:nvPr/>
        </p:nvSpPr>
        <p:spPr>
          <a:xfrm>
            <a:off x="2286001" y="-1"/>
            <a:ext cx="2285999" cy="843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/>
          </a:p>
        </p:txBody>
      </p:sp>
      <p:sp>
        <p:nvSpPr>
          <p:cNvPr id="14" name="Rectangle 13"/>
          <p:cNvSpPr/>
          <p:nvPr/>
        </p:nvSpPr>
        <p:spPr>
          <a:xfrm>
            <a:off x="4572003" y="-1"/>
            <a:ext cx="2285999" cy="8436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/>
          </a:p>
        </p:txBody>
      </p:sp>
      <p:sp>
        <p:nvSpPr>
          <p:cNvPr id="15" name="Rectangle 14"/>
          <p:cNvSpPr/>
          <p:nvPr/>
        </p:nvSpPr>
        <p:spPr>
          <a:xfrm>
            <a:off x="6858002" y="-1"/>
            <a:ext cx="2285999" cy="8436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/>
          </a:p>
        </p:txBody>
      </p:sp>
      <p:sp>
        <p:nvSpPr>
          <p:cNvPr id="16" name="Rectangle 15"/>
          <p:cNvSpPr/>
          <p:nvPr/>
        </p:nvSpPr>
        <p:spPr>
          <a:xfrm>
            <a:off x="3422877" y="1682951"/>
            <a:ext cx="58284" cy="18131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599" y="4838700"/>
            <a:ext cx="793389" cy="144651"/>
          </a:xfrm>
          <a:prstGeom prst="rect">
            <a:avLst/>
          </a:prstGeom>
        </p:spPr>
      </p:pic>
      <p:sp>
        <p:nvSpPr>
          <p:cNvPr id="2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8167" y="4730750"/>
            <a:ext cx="302283" cy="27384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ctr">
              <a:defRPr lang="en-US" sz="700" baseline="0" smtClean="0">
                <a:solidFill>
                  <a:schemeClr val="bg2"/>
                </a:solidFill>
              </a:defRPr>
            </a:lvl1pPr>
          </a:lstStyle>
          <a:p>
            <a:fld id="{64206654-C114-450A-967D-EF3F9BEC54C3}" type="slidenum">
              <a:rPr lang="ru-RU" smtClean="0"/>
              <a:t>‹#›</a:t>
            </a:fld>
            <a:endParaRPr lang="ru-RU"/>
          </a:p>
        </p:txBody>
      </p:sp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7586" y="93500"/>
            <a:ext cx="811222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436499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68">
          <p15:clr>
            <a:srgbClr val="FBAE40"/>
          </p15:clr>
        </p15:guide>
        <p15:guide id="2" pos="237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56740493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96" name="think-cell Folie" r:id="rId5" imgW="270" imgH="270" progId="TCLayout.ActiveDocument.1">
                  <p:embed/>
                </p:oleObj>
              </mc:Choice>
              <mc:Fallback>
                <p:oleObj name="think-cell Folie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600"/>
              </a:spcBef>
              <a:defRPr/>
            </a:lvl1pPr>
            <a:lvl2pPr>
              <a:spcBef>
                <a:spcPts val="0"/>
              </a:spcBef>
              <a:defRPr/>
            </a:lvl2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8167" y="4730750"/>
            <a:ext cx="302283" cy="27384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ctr">
              <a:defRPr lang="en-US" sz="700" baseline="0" smtClean="0">
                <a:solidFill>
                  <a:schemeClr val="bg2"/>
                </a:solidFill>
              </a:defRPr>
            </a:lvl1pPr>
          </a:lstStyle>
          <a:p>
            <a:fld id="{449EE1FA-814C-4BDC-9591-31839B5CF716}" type="slidenum">
              <a:rPr lang="ru-RU" smtClean="0">
                <a:solidFill>
                  <a:srgbClr val="45120F"/>
                </a:solidFill>
              </a:rPr>
              <a:pPr/>
              <a:t>‹#›</a:t>
            </a:fld>
            <a:endParaRPr lang="ru-RU" dirty="0">
              <a:solidFill>
                <a:srgbClr val="45120F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7" cstate="email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6544" y="6415131"/>
            <a:ext cx="835819" cy="152387"/>
          </a:xfrm>
          <a:prstGeom prst="rect">
            <a:avLst/>
          </a:prstGeom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7586" y="93500"/>
            <a:ext cx="811222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346075" y="225425"/>
            <a:ext cx="7971511" cy="327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graphicFrame>
        <p:nvGraphicFramePr>
          <p:cNvPr id="8" name="Объект 1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383869581"/>
              </p:ext>
            </p:extLst>
          </p:nvPr>
        </p:nvGraphicFramePr>
        <p:xfrm>
          <a:off x="1591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97" name="think-cell Slide" r:id="rId10" imgW="216" imgH="216" progId="TCLayout.ActiveDocument.1">
                  <p:embed/>
                </p:oleObj>
              </mc:Choice>
              <mc:Fallback>
                <p:oleObj name="think-cell Slide" r:id="rId10" imgW="216" imgH="21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91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20318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--2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346075" y="639762"/>
            <a:ext cx="4148138" cy="4148137"/>
          </a:xfrm>
        </p:spPr>
        <p:txBody>
          <a:bodyPr/>
          <a:lstStyle>
            <a:lvl1pPr>
              <a:spcBef>
                <a:spcPts val="600"/>
              </a:spcBef>
              <a:defRPr/>
            </a:lvl1pPr>
            <a:lvl2pPr>
              <a:spcBef>
                <a:spcPts val="0"/>
              </a:spcBef>
              <a:defRPr/>
            </a:lvl2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2"/>
          </p:nvPr>
        </p:nvSpPr>
        <p:spPr>
          <a:xfrm>
            <a:off x="4648199" y="639762"/>
            <a:ext cx="4149725" cy="4148137"/>
          </a:xfrm>
        </p:spPr>
        <p:txBody>
          <a:bodyPr/>
          <a:lstStyle>
            <a:lvl1pPr>
              <a:spcBef>
                <a:spcPts val="600"/>
              </a:spcBef>
              <a:defRPr/>
            </a:lvl1pPr>
            <a:lvl2pPr>
              <a:spcBef>
                <a:spcPts val="0"/>
              </a:spcBef>
              <a:defRPr/>
            </a:lvl2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8167" y="4730750"/>
            <a:ext cx="302283" cy="27384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ctr">
              <a:defRPr lang="en-US" sz="700" baseline="0" smtClean="0">
                <a:solidFill>
                  <a:schemeClr val="bg2"/>
                </a:solidFill>
              </a:defRPr>
            </a:lvl1pPr>
          </a:lstStyle>
          <a:p>
            <a:fld id="{64206654-C114-450A-967D-EF3F9BEC54C3}" type="slidenum">
              <a:rPr lang="ru-RU" smtClean="0"/>
              <a:t>‹#›</a:t>
            </a:fld>
            <a:endParaRPr lang="ru-RU"/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7586" y="93500"/>
            <a:ext cx="811222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346075" y="225425"/>
            <a:ext cx="7971511" cy="327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7251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--2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8167" y="4730750"/>
            <a:ext cx="302283" cy="27384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ctr">
              <a:defRPr lang="en-US" sz="700" baseline="0" smtClean="0">
                <a:solidFill>
                  <a:schemeClr val="bg2"/>
                </a:solidFill>
              </a:defRPr>
            </a:lvl1pPr>
          </a:lstStyle>
          <a:p>
            <a:fld id="{64206654-C114-450A-967D-EF3F9BEC54C3}" type="slidenum">
              <a:rPr lang="ru-RU" smtClean="0"/>
              <a:t>‹#›</a:t>
            </a:fld>
            <a:endParaRPr lang="ru-RU"/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7586" y="93500"/>
            <a:ext cx="811222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5706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latin typeface="+mj-lt"/>
              </a:defRPr>
            </a:lvl1pPr>
            <a:lvl2pPr>
              <a:spcBef>
                <a:spcPts val="0"/>
              </a:spcBef>
              <a:defRPr sz="1200">
                <a:latin typeface="+mj-lt"/>
              </a:defRPr>
            </a:lvl2pPr>
            <a:lvl3pPr>
              <a:spcBef>
                <a:spcPts val="1200"/>
              </a:spcBef>
              <a:defRPr sz="1200">
                <a:latin typeface="+mj-lt"/>
              </a:defRPr>
            </a:lvl3pPr>
            <a:lvl4pPr>
              <a:defRPr sz="1200">
                <a:latin typeface="+mj-lt"/>
              </a:defRPr>
            </a:lvl4pPr>
            <a:lvl5pPr>
              <a:defRPr sz="1200"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28650" y="273845"/>
            <a:ext cx="7886700" cy="994172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24192" y="4733925"/>
            <a:ext cx="422383" cy="27384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ctr">
              <a:defRPr lang="en-US" sz="1000" baseline="0" smtClean="0">
                <a:solidFill>
                  <a:schemeClr val="bg2"/>
                </a:solidFill>
                <a:latin typeface="+mj-lt"/>
              </a:defRPr>
            </a:lvl1pPr>
          </a:lstStyle>
          <a:p>
            <a:fld id="{449EE1FA-814C-4BDC-9591-31839B5CF716}" type="slidenum">
              <a:rPr lang="en-US" smtClean="0">
                <a:solidFill>
                  <a:srgbClr val="45120F"/>
                </a:solidFill>
              </a:rPr>
              <a:pPr/>
              <a:t>‹#›</a:t>
            </a:fld>
            <a:endParaRPr lang="en-US" dirty="0">
              <a:solidFill>
                <a:srgbClr val="45120F"/>
              </a:solidFill>
            </a:endParaRP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74746" y="4733925"/>
            <a:ext cx="2852057" cy="273844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1000" baseline="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 dirty="0">
                <a:solidFill>
                  <a:srgbClr val="45120F"/>
                </a:solidFill>
              </a:rPr>
              <a:t>PRESENTATION TITLE GOES HERE 2016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7586" y="93500"/>
            <a:ext cx="811222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38810182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EFE388BE-BB79-4BB0-B4F7-11994CF40BCC}" type="datetimeFigureOut">
              <a:rPr lang="ru-RU" smtClean="0"/>
              <a:t>21.05.2020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06654-C114-450A-967D-EF3F9BEC54C3}" type="slidenum">
              <a:rPr lang="ru-RU" smtClean="0"/>
              <a:t>‹#›</a:t>
            </a:fld>
            <a:endParaRPr lang="ru-RU"/>
          </a:p>
        </p:txBody>
      </p:sp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7586" y="93500"/>
            <a:ext cx="811222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8344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EFE388BE-BB79-4BB0-B4F7-11994CF40BCC}" type="datetimeFigureOut">
              <a:rPr lang="ru-RU" smtClean="0"/>
              <a:t>21.05.2020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06654-C114-450A-967D-EF3F9BEC54C3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7586" y="93500"/>
            <a:ext cx="811222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02537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Объект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383869581"/>
              </p:ext>
            </p:extLst>
          </p:nvPr>
        </p:nvGraphicFramePr>
        <p:xfrm>
          <a:off x="1591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4" name="think-cell Slide" r:id="rId4" imgW="216" imgH="216" progId="TCLayout.ActiveDocument.1">
                  <p:embed/>
                </p:oleObj>
              </mc:Choice>
              <mc:Fallback>
                <p:oleObj name="think-cell Slide" r:id="rId4" imgW="216" imgH="21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91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717551" y="784624"/>
            <a:ext cx="7886700" cy="99417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2"/>
          <p:cNvSpPr>
            <a:spLocks noGrp="1"/>
          </p:cNvSpPr>
          <p:nvPr>
            <p:ph idx="1"/>
          </p:nvPr>
        </p:nvSpPr>
        <p:spPr>
          <a:xfrm>
            <a:off x="717551" y="1879997"/>
            <a:ext cx="7886700" cy="264961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8175" y="4603754"/>
            <a:ext cx="302283" cy="27384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ctr">
              <a:defRPr lang="en-US" sz="700" b="1" i="0" kern="1200" baseline="0" smtClean="0">
                <a:solidFill>
                  <a:schemeClr val="bg2"/>
                </a:solidFill>
                <a:latin typeface="Arial MT Pro Cyr" pitchFamily="34" charset="-52"/>
                <a:ea typeface="+mn-ea"/>
                <a:cs typeface="+mn-cs"/>
              </a:defRPr>
            </a:lvl1pPr>
          </a:lstStyle>
          <a:p>
            <a:fld id="{449EE1FA-814C-4BDC-9591-31839B5CF716}" type="slidenum">
              <a:rPr lang="ru-RU">
                <a:solidFill>
                  <a:srgbClr val="45120F"/>
                </a:solidFill>
              </a:rPr>
              <a:pPr/>
              <a:t>‹#›</a:t>
            </a:fld>
            <a:endParaRPr lang="ru-RU" dirty="0">
              <a:solidFill>
                <a:srgbClr val="45120F"/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479048" y="4595961"/>
            <a:ext cx="2852057" cy="273844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700" b="1" i="0" baseline="0">
                <a:solidFill>
                  <a:srgbClr val="663230"/>
                </a:solidFill>
                <a:latin typeface="Arial MT Pro Cyr" pitchFamily="34" charset="-52"/>
              </a:defRPr>
            </a:lvl1pPr>
          </a:lstStyle>
          <a:p>
            <a:r>
              <a:rPr lang="en-US" dirty="0"/>
              <a:t>PRESENTATION TITLE GOES HERE 2018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7586" y="93500"/>
            <a:ext cx="811222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84124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7586" y="93500"/>
            <a:ext cx="811222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9638904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917226352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68" name="think-cell Folie" r:id="rId5" imgW="270" imgH="270" progId="TCLayout.ActiveDocument.1">
                  <p:embed/>
                </p:oleObj>
              </mc:Choice>
              <mc:Fallback>
                <p:oleObj name="think-cell Folie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8167" y="4730750"/>
            <a:ext cx="302283" cy="27384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ctr">
              <a:defRPr lang="en-US" sz="700" baseline="0" smtClean="0">
                <a:solidFill>
                  <a:schemeClr val="bg2"/>
                </a:solidFill>
              </a:defRPr>
            </a:lvl1pPr>
          </a:lstStyle>
          <a:p>
            <a:fld id="{449EE1FA-814C-4BDC-9591-31839B5CF716}" type="slidenum">
              <a:rPr lang="ru-RU">
                <a:solidFill>
                  <a:srgbClr val="45120F"/>
                </a:solidFill>
              </a:rPr>
              <a:pPr/>
              <a:t>‹#›</a:t>
            </a:fld>
            <a:endParaRPr lang="ru-RU" dirty="0">
              <a:solidFill>
                <a:srgbClr val="45120F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7" cstate="email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6544" y="6415131"/>
            <a:ext cx="835819" cy="152387"/>
          </a:xfrm>
          <a:prstGeom prst="rect">
            <a:avLst/>
          </a:prstGeom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7586" y="93500"/>
            <a:ext cx="811222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8" name="Объект 1" hidden="1"/>
          <p:cNvGraphicFramePr>
            <a:graphicFrameLocks noChangeAspect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516924520"/>
              </p:ext>
            </p:extLst>
          </p:nvPr>
        </p:nvGraphicFramePr>
        <p:xfrm>
          <a:off x="1591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69" name="think-cell Slide" r:id="rId10" imgW="216" imgH="216" progId="TCLayout.ActiveDocument.1">
                  <p:embed/>
                </p:oleObj>
              </mc:Choice>
              <mc:Fallback>
                <p:oleObj name="think-cell Slide" r:id="rId10" imgW="216" imgH="21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91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29780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023986694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2" name="think-cell Folie" r:id="rId5" imgW="270" imgH="270" progId="TCLayout.ActiveDocument.1">
                  <p:embed/>
                </p:oleObj>
              </mc:Choice>
              <mc:Fallback>
                <p:oleObj name="think-cell Folie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600"/>
              </a:spcBef>
              <a:defRPr/>
            </a:lvl1pPr>
            <a:lvl2pPr>
              <a:spcBef>
                <a:spcPts val="0"/>
              </a:spcBef>
              <a:defRPr/>
            </a:lvl2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8167" y="4730750"/>
            <a:ext cx="302283" cy="27384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ctr">
              <a:defRPr lang="en-US" sz="700" baseline="0" smtClean="0">
                <a:solidFill>
                  <a:schemeClr val="bg2"/>
                </a:solidFill>
              </a:defRPr>
            </a:lvl1pPr>
          </a:lstStyle>
          <a:p>
            <a:fld id="{449EE1FA-814C-4BDC-9591-31839B5CF716}" type="slidenum">
              <a:rPr lang="ru-RU" smtClean="0">
                <a:solidFill>
                  <a:srgbClr val="45120F"/>
                </a:solidFill>
              </a:rPr>
              <a:pPr/>
              <a:t>‹#›</a:t>
            </a:fld>
            <a:endParaRPr lang="ru-RU" dirty="0">
              <a:solidFill>
                <a:srgbClr val="45120F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7" cstate="email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6544" y="6415131"/>
            <a:ext cx="835819" cy="152387"/>
          </a:xfrm>
          <a:prstGeom prst="rect">
            <a:avLst/>
          </a:prstGeom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7586" y="93500"/>
            <a:ext cx="811222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346075" y="225425"/>
            <a:ext cx="7971511" cy="327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graphicFrame>
        <p:nvGraphicFramePr>
          <p:cNvPr id="8" name="Объект 1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710054027"/>
              </p:ext>
            </p:extLst>
          </p:nvPr>
        </p:nvGraphicFramePr>
        <p:xfrm>
          <a:off x="1591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3" name="think-cell Slide" r:id="rId10" imgW="216" imgH="216" progId="TCLayout.ActiveDocument.1">
                  <p:embed/>
                </p:oleObj>
              </mc:Choice>
              <mc:Fallback>
                <p:oleObj name="think-cell Slide" r:id="rId10" imgW="216" imgH="21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91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218545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572673552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6" name="think-cell Folie" r:id="rId5" imgW="270" imgH="270" progId="TCLayout.ActiveDocument.1">
                  <p:embed/>
                </p:oleObj>
              </mc:Choice>
              <mc:Fallback>
                <p:oleObj name="think-cell Folie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600"/>
              </a:spcBef>
              <a:defRPr/>
            </a:lvl1pPr>
            <a:lvl2pPr>
              <a:spcBef>
                <a:spcPts val="0"/>
              </a:spcBef>
              <a:defRPr/>
            </a:lvl2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8167" y="4730750"/>
            <a:ext cx="302283" cy="27384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ctr">
              <a:defRPr lang="en-US" sz="700" baseline="0" smtClean="0">
                <a:solidFill>
                  <a:schemeClr val="bg2"/>
                </a:solidFill>
              </a:defRPr>
            </a:lvl1pPr>
          </a:lstStyle>
          <a:p>
            <a:fld id="{449EE1FA-814C-4BDC-9591-31839B5CF716}" type="slidenum">
              <a:rPr lang="ru-RU" smtClean="0">
                <a:solidFill>
                  <a:srgbClr val="45120F"/>
                </a:solidFill>
              </a:rPr>
              <a:pPr/>
              <a:t>‹#›</a:t>
            </a:fld>
            <a:endParaRPr lang="ru-RU" dirty="0">
              <a:solidFill>
                <a:srgbClr val="45120F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7" cstate="email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6544" y="6415131"/>
            <a:ext cx="835819" cy="152387"/>
          </a:xfrm>
          <a:prstGeom prst="rect">
            <a:avLst/>
          </a:prstGeom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7586" y="93500"/>
            <a:ext cx="811222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346075" y="225425"/>
            <a:ext cx="7971511" cy="327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graphicFrame>
        <p:nvGraphicFramePr>
          <p:cNvPr id="8" name="Объект 1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492824387"/>
              </p:ext>
            </p:extLst>
          </p:nvPr>
        </p:nvGraphicFramePr>
        <p:xfrm>
          <a:off x="1591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7" name="think-cell Slide" r:id="rId10" imgW="216" imgH="216" progId="TCLayout.ActiveDocument.1">
                  <p:embed/>
                </p:oleObj>
              </mc:Choice>
              <mc:Fallback>
                <p:oleObj name="think-cell Slide" r:id="rId10" imgW="216" imgH="21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91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36410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16" Type="http://schemas.openxmlformats.org/officeDocument/2006/relationships/vmlDrawing" Target="../drawings/vmlDrawing1.vml"/><Relationship Id="rId20" Type="http://schemas.openxmlformats.org/officeDocument/2006/relationships/image" Target="../media/image2.tif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17"/>
            </p:custDataLst>
            <p:extLst>
              <p:ext uri="{D42A27DB-BD31-4B8C-83A1-F6EECF244321}">
                <p14:modId xmlns:p14="http://schemas.microsoft.com/office/powerpoint/2010/main" val="1440250452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63" name="think-cell Folie" r:id="rId18" imgW="270" imgH="270" progId="TCLayout.ActiveDocument.1">
                  <p:embed/>
                </p:oleObj>
              </mc:Choice>
              <mc:Fallback>
                <p:oleObj name="think-cell Folie" r:id="rId18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6075" y="225425"/>
            <a:ext cx="8451850" cy="32702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075" y="639762"/>
            <a:ext cx="8451850" cy="41481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2" y="-1"/>
            <a:ext cx="2285999" cy="843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/>
          </a:p>
        </p:txBody>
      </p:sp>
      <p:sp>
        <p:nvSpPr>
          <p:cNvPr id="14" name="Rectangle 13"/>
          <p:cNvSpPr/>
          <p:nvPr/>
        </p:nvSpPr>
        <p:spPr>
          <a:xfrm>
            <a:off x="2286001" y="-1"/>
            <a:ext cx="2285999" cy="843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/>
          </a:p>
        </p:txBody>
      </p:sp>
      <p:sp>
        <p:nvSpPr>
          <p:cNvPr id="15" name="Rectangle 14"/>
          <p:cNvSpPr/>
          <p:nvPr/>
        </p:nvSpPr>
        <p:spPr>
          <a:xfrm>
            <a:off x="4572003" y="-1"/>
            <a:ext cx="2285999" cy="8436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/>
          </a:p>
        </p:txBody>
      </p:sp>
      <p:sp>
        <p:nvSpPr>
          <p:cNvPr id="16" name="Rectangle 15"/>
          <p:cNvSpPr/>
          <p:nvPr/>
        </p:nvSpPr>
        <p:spPr>
          <a:xfrm>
            <a:off x="6858002" y="-1"/>
            <a:ext cx="2285999" cy="8436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/>
          </a:p>
        </p:txBody>
      </p:sp>
      <p:sp>
        <p:nvSpPr>
          <p:cNvPr id="1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8167" y="4730750"/>
            <a:ext cx="302283" cy="27384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ctr">
              <a:defRPr lang="en-US" sz="700" baseline="0" smtClean="0">
                <a:solidFill>
                  <a:schemeClr val="bg2"/>
                </a:solidFill>
              </a:defRPr>
            </a:lvl1pPr>
          </a:lstStyle>
          <a:p>
            <a:fld id="{64206654-C114-450A-967D-EF3F9BEC54C3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Rectangle 10"/>
          <p:cNvSpPr/>
          <p:nvPr/>
        </p:nvSpPr>
        <p:spPr>
          <a:xfrm>
            <a:off x="2" y="-1"/>
            <a:ext cx="2285999" cy="843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2" name="Rectangle 11"/>
          <p:cNvSpPr/>
          <p:nvPr/>
        </p:nvSpPr>
        <p:spPr>
          <a:xfrm>
            <a:off x="2286001" y="-1"/>
            <a:ext cx="2285999" cy="843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7" name="Rectangle 16"/>
          <p:cNvSpPr/>
          <p:nvPr/>
        </p:nvSpPr>
        <p:spPr>
          <a:xfrm>
            <a:off x="4572003" y="-1"/>
            <a:ext cx="2285999" cy="8436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8" name="Rectangle 17"/>
          <p:cNvSpPr/>
          <p:nvPr/>
        </p:nvSpPr>
        <p:spPr>
          <a:xfrm>
            <a:off x="6858002" y="-1"/>
            <a:ext cx="2285999" cy="8436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pic>
        <p:nvPicPr>
          <p:cNvPr id="20" name="Picture 3" descr="C:\Users\gontarenko\AppData\Local\Microsoft\Windows\Temporary Internet Files\Content.Outlook\9BTC1HNR\DPO.tif"/>
          <p:cNvPicPr>
            <a:picLocks noChangeAspect="1" noChangeArrowheads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6116" y="4759882"/>
            <a:ext cx="797062" cy="331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16"/>
          <p:cNvSpPr txBox="1">
            <a:spLocks noChangeArrowheads="1"/>
          </p:cNvSpPr>
          <p:nvPr/>
        </p:nvSpPr>
        <p:spPr bwMode="auto">
          <a:xfrm>
            <a:off x="3390199" y="4816348"/>
            <a:ext cx="2350323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>
              <a:spcAft>
                <a:spcPct val="100000"/>
              </a:spcAft>
              <a:buClr>
                <a:schemeClr val="folHlink"/>
              </a:buClr>
              <a:buChar char="•"/>
              <a:defRPr sz="2100">
                <a:solidFill>
                  <a:srgbClr val="000000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algn="ctr">
              <a:spcAft>
                <a:spcPct val="100000"/>
              </a:spcAft>
              <a:buClr>
                <a:schemeClr val="folHlink"/>
              </a:buClr>
              <a:buChar char="•"/>
              <a:defRPr sz="2100">
                <a:solidFill>
                  <a:srgbClr val="000000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ctr">
              <a:spcAft>
                <a:spcPct val="100000"/>
              </a:spcAft>
              <a:buClr>
                <a:schemeClr val="folHlink"/>
              </a:buClr>
              <a:buChar char="•"/>
              <a:defRPr sz="2100">
                <a:solidFill>
                  <a:srgbClr val="000000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ctr">
              <a:spcAft>
                <a:spcPct val="100000"/>
              </a:spcAft>
              <a:buClr>
                <a:schemeClr val="folHlink"/>
              </a:buClr>
              <a:buChar char="•"/>
              <a:defRPr sz="2100">
                <a:solidFill>
                  <a:srgbClr val="000000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ctr">
              <a:spcAft>
                <a:spcPct val="100000"/>
              </a:spcAft>
              <a:buClr>
                <a:schemeClr val="folHlink"/>
              </a:buClr>
              <a:buChar char="•"/>
              <a:defRPr sz="2100">
                <a:solidFill>
                  <a:srgbClr val="000000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100000"/>
              </a:spcAft>
              <a:buClr>
                <a:schemeClr val="folHlink"/>
              </a:buClr>
              <a:buChar char="•"/>
              <a:defRPr sz="2100">
                <a:solidFill>
                  <a:srgbClr val="000000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100000"/>
              </a:spcAft>
              <a:buClr>
                <a:schemeClr val="folHlink"/>
              </a:buClr>
              <a:buChar char="•"/>
              <a:defRPr sz="2100">
                <a:solidFill>
                  <a:srgbClr val="000000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100000"/>
              </a:spcAft>
              <a:buClr>
                <a:schemeClr val="folHlink"/>
              </a:buClr>
              <a:buChar char="•"/>
              <a:defRPr sz="2100">
                <a:solidFill>
                  <a:srgbClr val="000000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100000"/>
              </a:spcAft>
              <a:buClr>
                <a:schemeClr val="folHlink"/>
              </a:buClr>
              <a:buChar char="•"/>
              <a:defRPr sz="2100">
                <a:solidFill>
                  <a:srgbClr val="000000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>
              <a:spcAft>
                <a:spcPct val="0"/>
              </a:spcAft>
              <a:buClrTx/>
              <a:buFontTx/>
              <a:buNone/>
            </a:pPr>
            <a:r>
              <a:rPr lang="en-US" altLang="en-US" sz="750" b="1" dirty="0">
                <a:latin typeface="Arial" panose="020B0604020202020204" pitchFamily="34" charset="0"/>
                <a:sym typeface="Arial" panose="020B0604020202020204" pitchFamily="34" charset="0"/>
              </a:rPr>
              <a:t>Safety First, Quality Always, VPO/DPO Forever!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2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1" y="4839431"/>
            <a:ext cx="793389" cy="14465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9019" y="4783264"/>
            <a:ext cx="834511" cy="295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550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36" r:id="rId6"/>
    <p:sldLayoutId id="2147483729" r:id="rId7"/>
    <p:sldLayoutId id="2147483731" r:id="rId8"/>
    <p:sldLayoutId id="2147483732" r:id="rId9"/>
    <p:sldLayoutId id="2147483716" r:id="rId10"/>
    <p:sldLayoutId id="2147483735" r:id="rId11"/>
    <p:sldLayoutId id="2147483737" r:id="rId12"/>
    <p:sldLayoutId id="2147483738" r:id="rId13"/>
    <p:sldLayoutId id="2147483739" r:id="rId14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2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sz="1600" b="1" kern="1200" baseline="0">
          <a:solidFill>
            <a:schemeClr val="bg2"/>
          </a:solidFill>
          <a:latin typeface="+mn-lt"/>
          <a:ea typeface="+mn-ea"/>
          <a:cs typeface="+mn-cs"/>
        </a:defRPr>
      </a:lvl1pPr>
      <a:lvl2pPr marL="0" indent="0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1200" kern="1200" baseline="0">
          <a:solidFill>
            <a:schemeClr val="bg2"/>
          </a:solidFill>
          <a:latin typeface="+mn-lt"/>
          <a:ea typeface="+mn-ea"/>
          <a:cs typeface="+mn-cs"/>
        </a:defRPr>
      </a:lvl2pPr>
      <a:lvl3pPr marL="266700" indent="-117872" algn="l" defTabSz="685800" rtl="0" eaLnBrk="1" latinLnBrk="0" hangingPunct="1">
        <a:lnSpc>
          <a:spcPct val="100000"/>
        </a:lnSpc>
        <a:spcBef>
          <a:spcPts val="450"/>
        </a:spcBef>
        <a:buFont typeface="Arial" panose="020B0604020202020204" pitchFamily="34" charset="0"/>
        <a:buChar char="•"/>
        <a:defRPr sz="1200" kern="1200" baseline="0">
          <a:solidFill>
            <a:schemeClr val="bg2"/>
          </a:solidFill>
          <a:latin typeface="+mn-lt"/>
          <a:ea typeface="+mn-ea"/>
          <a:cs typeface="+mn-cs"/>
        </a:defRPr>
      </a:lvl3pPr>
      <a:lvl4pPr marL="428625" indent="-171450" algn="l" defTabSz="685800" rtl="0" eaLnBrk="1" latinLnBrk="0" hangingPunct="1">
        <a:lnSpc>
          <a:spcPct val="100000"/>
        </a:lnSpc>
        <a:spcBef>
          <a:spcPts val="450"/>
        </a:spcBef>
        <a:buFont typeface="Arial" panose="020B0604020202020204" pitchFamily="34" charset="0"/>
        <a:buChar char="–"/>
        <a:defRPr sz="1200" kern="1200" baseline="0">
          <a:solidFill>
            <a:schemeClr val="bg2"/>
          </a:solidFill>
          <a:latin typeface="+mn-lt"/>
          <a:ea typeface="+mn-ea"/>
          <a:cs typeface="+mn-cs"/>
        </a:defRPr>
      </a:lvl4pPr>
      <a:lvl5pPr marL="646510" indent="-171450" algn="l" defTabSz="685800" rtl="0" eaLnBrk="1" latinLnBrk="0" hangingPunct="1">
        <a:lnSpc>
          <a:spcPct val="100000"/>
        </a:lnSpc>
        <a:spcBef>
          <a:spcPts val="450"/>
        </a:spcBef>
        <a:buFont typeface="Arial" panose="020B0604020202020204" pitchFamily="34" charset="0"/>
        <a:buChar char="•"/>
        <a:defRPr sz="1200" kern="1200" baseline="0">
          <a:solidFill>
            <a:schemeClr val="bg2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184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pos="4032">
          <p15:clr>
            <a:srgbClr val="F26B43"/>
          </p15:clr>
        </p15:guide>
        <p15:guide id="4" pos="2160">
          <p15:clr>
            <a:srgbClr val="F26B43"/>
          </p15:clr>
        </p15:guide>
        <p15:guide id="5" orient="horz" pos="3138">
          <p15:clr>
            <a:srgbClr val="F26B43"/>
          </p15:clr>
        </p15:guide>
        <p15:guide id="6" orient="horz" pos="1620">
          <p15:clr>
            <a:srgbClr val="F26B43"/>
          </p15:clr>
        </p15:guide>
        <p15:guide id="7" pos="5376">
          <p15:clr>
            <a:srgbClr val="F26B43"/>
          </p15:clr>
        </p15:guide>
        <p15:guide id="8" pos="384">
          <p15:clr>
            <a:srgbClr val="F26B43"/>
          </p15:clr>
        </p15:guide>
        <p15:guide id="9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6.png"/><Relationship Id="rId4" Type="http://schemas.microsoft.com/office/2007/relationships/hdphoto" Target="../media/hdphoto2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8.emf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microsoft.com/office/2007/relationships/hdphoto" Target="../media/hdphoto2.wdp"/><Relationship Id="rId5" Type="http://schemas.openxmlformats.org/officeDocument/2006/relationships/image" Target="../media/image25.png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8.emf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6.png"/><Relationship Id="rId5" Type="http://schemas.microsoft.com/office/2007/relationships/hdphoto" Target="../media/hdphoto2.wdp"/><Relationship Id="rId10" Type="http://schemas.openxmlformats.org/officeDocument/2006/relationships/image" Target="../media/image32.png"/><Relationship Id="rId4" Type="http://schemas.openxmlformats.org/officeDocument/2006/relationships/image" Target="../media/image25.png"/><Relationship Id="rId9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emf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microsoft.com/office/2007/relationships/hdphoto" Target="../media/hdphoto2.wdp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9.png"/><Relationship Id="rId9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4.emf"/><Relationship Id="rId5" Type="http://schemas.openxmlformats.org/officeDocument/2006/relationships/image" Target="../media/image26.png"/><Relationship Id="rId4" Type="http://schemas.microsoft.com/office/2007/relationships/hdphoto" Target="../media/hdphoto2.wdp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9526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0" hangingPunct="0">
              <a:defRPr/>
            </a:pPr>
            <a:r>
              <a:rPr lang="ru-RU" kern="0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Карты процессов для решения проблем</a:t>
            </a:r>
            <a:endParaRPr lang="de-DE" kern="0" dirty="0">
              <a:solidFill>
                <a:srgbClr val="FFFFFF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04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ДОМ </a:t>
            </a:r>
            <a:r>
              <a:rPr lang="de-DE" dirty="0"/>
              <a:t>VPO</a:t>
            </a:r>
            <a:r>
              <a:rPr lang="ru-RU" dirty="0"/>
              <a:t>*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4"/>
          </p:nvPr>
        </p:nvSpPr>
        <p:spPr>
          <a:xfrm>
            <a:off x="8378167" y="4730750"/>
            <a:ext cx="302283" cy="273845"/>
          </a:xfrm>
        </p:spPr>
        <p:txBody>
          <a:bodyPr/>
          <a:lstStyle/>
          <a:p>
            <a:fld id="{449EE1FA-814C-4BDC-9591-31839B5CF716}" type="slidenum">
              <a:rPr>
                <a:solidFill>
                  <a:srgbClr val="45120F"/>
                </a:solidFill>
              </a:rPr>
              <a:pPr/>
              <a:t>3</a:t>
            </a:fld>
            <a:endParaRPr dirty="0">
              <a:solidFill>
                <a:srgbClr val="45120F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9575" y="4364030"/>
            <a:ext cx="91440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chemeClr val="bg1">
                    <a:lumMod val="65000"/>
                  </a:schemeClr>
                </a:solidFill>
              </a:rPr>
              <a:t>*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VPO (Voyager Plant Optimization)</a:t>
            </a:r>
            <a:r>
              <a:rPr lang="ru-RU" sz="1600" dirty="0">
                <a:solidFill>
                  <a:schemeClr val="bg1">
                    <a:lumMod val="65000"/>
                  </a:schemeClr>
                </a:solidFill>
              </a:rPr>
              <a:t> - Программа Оптимизации Заводов «Вояджер» </a:t>
            </a:r>
          </a:p>
        </p:txBody>
      </p: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6857" y="474340"/>
            <a:ext cx="4143375" cy="376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3770852" y="1395673"/>
            <a:ext cx="1635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Менеджмент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88865" y="3740579"/>
            <a:ext cx="3960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/>
              <a:t>Люди</a:t>
            </a:r>
          </a:p>
        </p:txBody>
      </p:sp>
      <p:sp>
        <p:nvSpPr>
          <p:cNvPr id="12" name="TextBox 11"/>
          <p:cNvSpPr txBox="1"/>
          <p:nvPr/>
        </p:nvSpPr>
        <p:spPr>
          <a:xfrm rot="16200000">
            <a:off x="2185097" y="2458488"/>
            <a:ext cx="16089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/>
              <a:t>Техническое Обслуживание</a:t>
            </a:r>
          </a:p>
        </p:txBody>
      </p:sp>
      <p:sp>
        <p:nvSpPr>
          <p:cNvPr id="13" name="TextBox 12"/>
          <p:cNvSpPr txBox="1"/>
          <p:nvPr/>
        </p:nvSpPr>
        <p:spPr>
          <a:xfrm rot="16200000">
            <a:off x="2966394" y="2566210"/>
            <a:ext cx="16089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/>
              <a:t>Качество</a:t>
            </a:r>
          </a:p>
        </p:txBody>
      </p:sp>
      <p:sp>
        <p:nvSpPr>
          <p:cNvPr id="14" name="TextBox 13"/>
          <p:cNvSpPr txBox="1"/>
          <p:nvPr/>
        </p:nvSpPr>
        <p:spPr>
          <a:xfrm rot="16200000">
            <a:off x="3764627" y="2488112"/>
            <a:ext cx="16089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/>
              <a:t>Окружающая среда</a:t>
            </a:r>
          </a:p>
        </p:txBody>
      </p:sp>
      <p:sp>
        <p:nvSpPr>
          <p:cNvPr id="15" name="TextBox 14"/>
          <p:cNvSpPr txBox="1"/>
          <p:nvPr/>
        </p:nvSpPr>
        <p:spPr>
          <a:xfrm rot="16200000">
            <a:off x="4510839" y="2595834"/>
            <a:ext cx="16089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/>
              <a:t>Безопасность</a:t>
            </a:r>
          </a:p>
        </p:txBody>
      </p:sp>
      <p:sp>
        <p:nvSpPr>
          <p:cNvPr id="16" name="TextBox 15"/>
          <p:cNvSpPr txBox="1"/>
          <p:nvPr/>
        </p:nvSpPr>
        <p:spPr>
          <a:xfrm rot="16200000">
            <a:off x="5322672" y="2603155"/>
            <a:ext cx="16089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/>
              <a:t>Логистика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01033" y="932267"/>
            <a:ext cx="936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b="1" dirty="0"/>
              <a:t>Поведение</a:t>
            </a:r>
          </a:p>
        </p:txBody>
      </p:sp>
      <p:sp>
        <p:nvSpPr>
          <p:cNvPr id="19" name="TextBox 18"/>
          <p:cNvSpPr txBox="1"/>
          <p:nvPr/>
        </p:nvSpPr>
        <p:spPr>
          <a:xfrm rot="1382218">
            <a:off x="4841545" y="817503"/>
            <a:ext cx="936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b="1" dirty="0"/>
              <a:t>Затраты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95936" y="1131821"/>
            <a:ext cx="12857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b="1" dirty="0"/>
              <a:t>Эффективность</a:t>
            </a:r>
          </a:p>
        </p:txBody>
      </p:sp>
      <p:sp>
        <p:nvSpPr>
          <p:cNvPr id="21" name="TextBox 20"/>
          <p:cNvSpPr txBox="1"/>
          <p:nvPr/>
        </p:nvSpPr>
        <p:spPr>
          <a:xfrm rot="20228096">
            <a:off x="3621923" y="696727"/>
            <a:ext cx="936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b="1" dirty="0"/>
              <a:t>Услуги</a:t>
            </a:r>
          </a:p>
        </p:txBody>
      </p:sp>
    </p:spTree>
    <p:extLst>
      <p:ext uri="{BB962C8B-B14F-4D97-AF65-F5344CB8AC3E}">
        <p14:creationId xmlns:p14="http://schemas.microsoft.com/office/powerpoint/2010/main" val="31695677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uppieren 20"/>
          <p:cNvGrpSpPr/>
          <p:nvPr/>
        </p:nvGrpSpPr>
        <p:grpSpPr>
          <a:xfrm>
            <a:off x="265191" y="1093699"/>
            <a:ext cx="6947562" cy="577760"/>
            <a:chOff x="170850" y="1439988"/>
            <a:chExt cx="6947562" cy="770346"/>
          </a:xfrm>
        </p:grpSpPr>
        <p:sp>
          <p:nvSpPr>
            <p:cNvPr id="39" name="CaixaDeTexto 23"/>
            <p:cNvSpPr txBox="1"/>
            <p:nvPr/>
          </p:nvSpPr>
          <p:spPr>
            <a:xfrm>
              <a:off x="170850" y="1773858"/>
              <a:ext cx="10829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buNone/>
              </a:pPr>
              <a:r>
                <a:rPr lang="ru-RU" sz="1200" b="1" dirty="0">
                  <a:ea typeface="Verdana" pitchFamily="34" charset="0"/>
                  <a:cs typeface="Verdana" pitchFamily="34" charset="0"/>
                </a:rPr>
                <a:t>СТРАТЕГИЯ</a:t>
              </a:r>
              <a:endParaRPr lang="de-DE" sz="1200" b="1" dirty="0">
                <a:ea typeface="Verdana" pitchFamily="34" charset="0"/>
                <a:cs typeface="Verdana" pitchFamily="34" charset="0"/>
              </a:endParaRPr>
            </a:p>
          </p:txBody>
        </p:sp>
        <p:sp>
          <p:nvSpPr>
            <p:cNvPr id="40" name="Rectangle 30"/>
            <p:cNvSpPr>
              <a:spLocks noChangeArrowheads="1"/>
            </p:cNvSpPr>
            <p:nvPr/>
          </p:nvSpPr>
          <p:spPr bwMode="auto">
            <a:xfrm>
              <a:off x="3994212" y="1439988"/>
              <a:ext cx="3124200" cy="770346"/>
            </a:xfrm>
            <a:prstGeom prst="rect">
              <a:avLst/>
            </a:prstGeom>
            <a:solidFill>
              <a:schemeClr val="accent1"/>
            </a:solidFill>
            <a:ln w="0">
              <a:noFill/>
              <a:miter lim="800000"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anchor="ctr"/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866775" eaLnBrk="0" fontAlgn="auto" hangingPunct="0">
                <a:spcBef>
                  <a:spcPts val="0"/>
                </a:spcBef>
                <a:buClr>
                  <a:srgbClr val="FF0000"/>
                </a:buClr>
                <a:buNone/>
                <a:defRPr/>
              </a:pPr>
              <a:r>
                <a:rPr lang="ru-RU" sz="1200" b="1" kern="0" dirty="0">
                  <a:solidFill>
                    <a:srgbClr val="FFFFFF"/>
                  </a:solidFill>
                  <a:latin typeface="Arial" pitchFamily="34" charset="0"/>
                  <a:cs typeface="Arial" pitchFamily="34" charset="0"/>
                </a:rPr>
                <a:t>Стратегический план</a:t>
              </a:r>
              <a:endParaRPr lang="de-DE" sz="1200" b="1" kern="0" dirty="0">
                <a:solidFill>
                  <a:srgbClr val="FFFFFF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22" name="Gruppieren 21"/>
          <p:cNvGrpSpPr/>
          <p:nvPr/>
        </p:nvGrpSpPr>
        <p:grpSpPr>
          <a:xfrm>
            <a:off x="265191" y="3555910"/>
            <a:ext cx="8613618" cy="456000"/>
            <a:chOff x="391646" y="4174268"/>
            <a:chExt cx="8392822" cy="607999"/>
          </a:xfrm>
        </p:grpSpPr>
        <p:sp>
          <p:nvSpPr>
            <p:cNvPr id="36" name="CaixaDeTexto 20"/>
            <p:cNvSpPr txBox="1"/>
            <p:nvPr/>
          </p:nvSpPr>
          <p:spPr>
            <a:xfrm>
              <a:off x="391646" y="4372192"/>
              <a:ext cx="1018227" cy="369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None/>
              </a:pPr>
              <a:r>
                <a:rPr lang="ru-RU" sz="1200" b="1" dirty="0">
                  <a:ea typeface="Verdana" pitchFamily="34" charset="0"/>
                  <a:cs typeface="Verdana" pitchFamily="34" charset="0"/>
                </a:rPr>
                <a:t>ОСНОВНЫ</a:t>
              </a:r>
              <a:endParaRPr lang="de-DE" sz="1200" b="1" dirty="0">
                <a:ea typeface="Verdana" pitchFamily="34" charset="0"/>
                <a:cs typeface="Verdana" pitchFamily="34" charset="0"/>
              </a:endParaRPr>
            </a:p>
          </p:txBody>
        </p:sp>
        <p:sp>
          <p:nvSpPr>
            <p:cNvPr id="37" name="Rectangle 32"/>
            <p:cNvSpPr>
              <a:spLocks noChangeArrowheads="1"/>
            </p:cNvSpPr>
            <p:nvPr/>
          </p:nvSpPr>
          <p:spPr bwMode="auto">
            <a:xfrm>
              <a:off x="5442012" y="4175809"/>
              <a:ext cx="3342456" cy="606458"/>
            </a:xfrm>
            <a:prstGeom prst="rect">
              <a:avLst/>
            </a:prstGeom>
            <a:solidFill>
              <a:schemeClr val="accent1"/>
            </a:solidFill>
            <a:ln w="9525" algn="ctr">
              <a:noFill/>
              <a:miter lim="800000"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lIns="86621" tIns="43311" rIns="86621" bIns="43311" anchor="ctr"/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866775" eaLnBrk="0" hangingPunct="0">
                <a:buClr>
                  <a:srgbClr val="FF0000"/>
                </a:buClr>
                <a:buNone/>
              </a:pPr>
              <a:r>
                <a:rPr lang="de-DE" sz="1200" b="1" kern="0" dirty="0">
                  <a:solidFill>
                    <a:srgbClr val="FFFFFF"/>
                  </a:solidFill>
                  <a:latin typeface="Arial" pitchFamily="34" charset="0"/>
                  <a:cs typeface="Arial" pitchFamily="34" charset="0"/>
                </a:rPr>
                <a:t>5S</a:t>
              </a:r>
            </a:p>
          </p:txBody>
        </p:sp>
        <p:sp>
          <p:nvSpPr>
            <p:cNvPr id="38" name="Rectangle 32"/>
            <p:cNvSpPr>
              <a:spLocks noChangeArrowheads="1"/>
            </p:cNvSpPr>
            <p:nvPr/>
          </p:nvSpPr>
          <p:spPr bwMode="auto">
            <a:xfrm>
              <a:off x="2023356" y="4174268"/>
              <a:ext cx="3342456" cy="606458"/>
            </a:xfrm>
            <a:prstGeom prst="rect">
              <a:avLst/>
            </a:prstGeom>
            <a:solidFill>
              <a:srgbClr val="F39C1F"/>
            </a:solidFill>
            <a:ln w="9525" algn="ctr">
              <a:noFill/>
              <a:miter lim="800000"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lIns="86621" tIns="43311" rIns="86621" bIns="43311" anchor="ctr"/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866775" eaLnBrk="0" hangingPunct="0">
                <a:buClr>
                  <a:srgbClr val="FF0000"/>
                </a:buClr>
                <a:buNone/>
              </a:pPr>
              <a:r>
                <a:rPr lang="ru-RU" sz="1200" b="1" kern="0" dirty="0">
                  <a:solidFill>
                    <a:srgbClr val="FFFFFF"/>
                  </a:solidFill>
                  <a:latin typeface="Arial" pitchFamily="34" charset="0"/>
                  <a:cs typeface="Arial" pitchFamily="34" charset="0"/>
                </a:rPr>
                <a:t>Глобальная политика компании</a:t>
              </a:r>
              <a:endParaRPr lang="de-DE" sz="1200" b="1" kern="0" dirty="0">
                <a:solidFill>
                  <a:srgbClr val="FFFFFF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23" name="Gruppieren 22"/>
          <p:cNvGrpSpPr/>
          <p:nvPr/>
        </p:nvGrpSpPr>
        <p:grpSpPr>
          <a:xfrm>
            <a:off x="323528" y="1869401"/>
            <a:ext cx="8055333" cy="607608"/>
            <a:chOff x="229187" y="2344068"/>
            <a:chExt cx="8055333" cy="810142"/>
          </a:xfrm>
        </p:grpSpPr>
        <p:sp>
          <p:nvSpPr>
            <p:cNvPr id="31" name="CaixaDeTexto 22"/>
            <p:cNvSpPr txBox="1"/>
            <p:nvPr/>
          </p:nvSpPr>
          <p:spPr>
            <a:xfrm>
              <a:off x="229187" y="2538658"/>
              <a:ext cx="1751712" cy="61555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None/>
              </a:pPr>
              <a:r>
                <a:rPr lang="ru-RU" sz="1200" b="1" dirty="0">
                  <a:ea typeface="Verdana" pitchFamily="34" charset="0"/>
                  <a:cs typeface="Verdana" pitchFamily="34" charset="0"/>
                </a:rPr>
                <a:t>УПРАВЛЯТЬ, ЧТОБЫ УЛУЧШАТТЬ</a:t>
              </a:r>
              <a:endParaRPr lang="de-DE" sz="1200" b="1" dirty="0">
                <a:ea typeface="Verdana" pitchFamily="34" charset="0"/>
                <a:cs typeface="Verdana" pitchFamily="34" charset="0"/>
              </a:endParaRPr>
            </a:p>
          </p:txBody>
        </p:sp>
        <p:sp>
          <p:nvSpPr>
            <p:cNvPr id="32" name="Rectangle 29"/>
            <p:cNvSpPr>
              <a:spLocks noChangeArrowheads="1"/>
            </p:cNvSpPr>
            <p:nvPr/>
          </p:nvSpPr>
          <p:spPr bwMode="auto">
            <a:xfrm>
              <a:off x="2669639" y="2344068"/>
              <a:ext cx="1415978" cy="743312"/>
            </a:xfrm>
            <a:prstGeom prst="rect">
              <a:avLst/>
            </a:prstGeom>
            <a:solidFill>
              <a:srgbClr val="F39C1F"/>
            </a:solidFill>
            <a:ln w="9525" algn="ctr">
              <a:noFill/>
              <a:miter lim="800000"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lIns="86621" tIns="43311" rIns="86621" bIns="43311" anchor="ctr"/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866775" eaLnBrk="0" fontAlgn="auto" hangingPunct="0">
                <a:spcBef>
                  <a:spcPts val="0"/>
                </a:spcBef>
                <a:buClr>
                  <a:srgbClr val="FF0000"/>
                </a:buClr>
                <a:buNone/>
                <a:defRPr/>
              </a:pPr>
              <a:r>
                <a:rPr lang="ru-RU" sz="1200" b="1" kern="0" dirty="0">
                  <a:solidFill>
                    <a:srgbClr val="FFFFFF"/>
                  </a:solidFill>
                  <a:latin typeface="Arial" pitchFamily="34" charset="0"/>
                  <a:cs typeface="Arial" pitchFamily="34" charset="0"/>
                </a:rPr>
                <a:t>Постановка и каскадирование</a:t>
              </a:r>
              <a:r>
                <a:rPr lang="en-US" sz="1200" b="1" kern="0" dirty="0">
                  <a:solidFill>
                    <a:srgbClr val="FFFFFF"/>
                  </a:solidFill>
                  <a:latin typeface="Arial" pitchFamily="34" charset="0"/>
                  <a:cs typeface="Arial" pitchFamily="34" charset="0"/>
                </a:rPr>
                <a:t> </a:t>
              </a:r>
              <a:r>
                <a:rPr lang="ru-RU" sz="1200" b="1" kern="0" dirty="0">
                  <a:solidFill>
                    <a:srgbClr val="FFFFFF"/>
                  </a:solidFill>
                  <a:latin typeface="Arial" pitchFamily="34" charset="0"/>
                  <a:cs typeface="Arial" pitchFamily="34" charset="0"/>
                </a:rPr>
                <a:t>целей</a:t>
              </a:r>
              <a:endParaRPr lang="de-DE" sz="1200" b="1" kern="0" dirty="0">
                <a:solidFill>
                  <a:srgbClr val="FFFFFF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4" name="Rectangle 35"/>
            <p:cNvSpPr>
              <a:spLocks noChangeArrowheads="1"/>
            </p:cNvSpPr>
            <p:nvPr/>
          </p:nvSpPr>
          <p:spPr bwMode="auto">
            <a:xfrm>
              <a:off x="6948873" y="2344068"/>
              <a:ext cx="1335647" cy="743311"/>
            </a:xfrm>
            <a:prstGeom prst="rect">
              <a:avLst/>
            </a:prstGeom>
            <a:solidFill>
              <a:srgbClr val="F39C1F"/>
            </a:solidFill>
            <a:ln w="9525" algn="ctr">
              <a:noFill/>
              <a:miter lim="800000"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lIns="86621" tIns="43311" rIns="86621" bIns="43311" anchor="ctr"/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866775" eaLnBrk="0" hangingPunct="0">
                <a:buClr>
                  <a:srgbClr val="FF0000"/>
                </a:buClr>
                <a:buNone/>
              </a:pPr>
              <a:r>
                <a:rPr lang="ru-RU" sz="1100" b="1" kern="0" dirty="0" err="1">
                  <a:solidFill>
                    <a:srgbClr val="FFFFFF"/>
                  </a:solidFill>
                  <a:latin typeface="Arial" pitchFamily="34" charset="0"/>
                  <a:cs typeface="Arial" pitchFamily="34" charset="0"/>
                </a:rPr>
                <a:t>Перфомансная</a:t>
              </a:r>
              <a:r>
                <a:rPr lang="ru-RU" sz="1100" b="1" kern="0" dirty="0">
                  <a:solidFill>
                    <a:srgbClr val="FFFFFF"/>
                  </a:solidFill>
                  <a:latin typeface="Arial" pitchFamily="34" charset="0"/>
                  <a:cs typeface="Arial" pitchFamily="34" charset="0"/>
                </a:rPr>
                <a:t> </a:t>
              </a:r>
              <a:r>
                <a:rPr lang="en-US" sz="1100" b="1" kern="0" dirty="0">
                  <a:solidFill>
                    <a:srgbClr val="FFFFFF"/>
                  </a:solidFill>
                  <a:latin typeface="Arial" pitchFamily="34" charset="0"/>
                  <a:cs typeface="Arial" pitchFamily="34" charset="0"/>
                </a:rPr>
                <a:t>MCRS</a:t>
              </a:r>
              <a:endParaRPr lang="de-DE" sz="1100" b="1" kern="0" dirty="0">
                <a:solidFill>
                  <a:srgbClr val="FFFFFF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5" name="Rectangle 33"/>
            <p:cNvSpPr>
              <a:spLocks noChangeArrowheads="1"/>
            </p:cNvSpPr>
            <p:nvPr/>
          </p:nvSpPr>
          <p:spPr bwMode="auto">
            <a:xfrm>
              <a:off x="5576015" y="2344068"/>
              <a:ext cx="1315167" cy="743312"/>
            </a:xfrm>
            <a:prstGeom prst="rect">
              <a:avLst/>
            </a:prstGeom>
            <a:solidFill>
              <a:srgbClr val="F39C1F"/>
            </a:solidFill>
            <a:ln w="9525" algn="ctr">
              <a:noFill/>
              <a:miter lim="800000"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lIns="86621" tIns="43311" rIns="86621" bIns="43311" anchor="ctr"/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866775" eaLnBrk="0" fontAlgn="auto" hangingPunct="0">
                <a:spcBef>
                  <a:spcPts val="0"/>
                </a:spcBef>
                <a:buClr>
                  <a:srgbClr val="FF0000"/>
                </a:buClr>
                <a:buNone/>
                <a:defRPr/>
              </a:pPr>
              <a:r>
                <a:rPr lang="ru-RU" sz="1100" b="1" kern="0" dirty="0">
                  <a:solidFill>
                    <a:srgbClr val="FFFFFF"/>
                  </a:solidFill>
                  <a:latin typeface="Arial" pitchFamily="34" charset="0"/>
                  <a:cs typeface="Arial" pitchFamily="34" charset="0"/>
                </a:rPr>
                <a:t>Управление знаниями</a:t>
              </a:r>
              <a:endParaRPr lang="de-DE" sz="1050" b="1" kern="0" dirty="0">
                <a:solidFill>
                  <a:srgbClr val="FFFFFF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24" name="Gruppieren 23"/>
          <p:cNvGrpSpPr/>
          <p:nvPr/>
        </p:nvGrpSpPr>
        <p:grpSpPr>
          <a:xfrm>
            <a:off x="265191" y="2736462"/>
            <a:ext cx="8413292" cy="621506"/>
            <a:chOff x="170850" y="3276497"/>
            <a:chExt cx="8413292" cy="828675"/>
          </a:xfrm>
        </p:grpSpPr>
        <p:sp>
          <p:nvSpPr>
            <p:cNvPr id="25" name="CaixaDeTexto 21"/>
            <p:cNvSpPr txBox="1"/>
            <p:nvPr/>
          </p:nvSpPr>
          <p:spPr>
            <a:xfrm>
              <a:off x="170850" y="3453802"/>
              <a:ext cx="1852506" cy="615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None/>
              </a:pPr>
              <a:r>
                <a:rPr lang="ru-RU" sz="1200" b="1" dirty="0">
                  <a:ea typeface="Verdana" pitchFamily="34" charset="0"/>
                  <a:cs typeface="Verdana" pitchFamily="34" charset="0"/>
                </a:rPr>
                <a:t>УПРАВЛЯТЬ, ЧТОБЫ ПОДДЕРЖИВАТЬ</a:t>
              </a:r>
              <a:endParaRPr lang="de-DE" sz="1200" b="1" dirty="0">
                <a:ea typeface="Verdana" pitchFamily="34" charset="0"/>
                <a:cs typeface="Verdana" pitchFamily="34" charset="0"/>
              </a:endParaRPr>
            </a:p>
          </p:txBody>
        </p:sp>
        <p:sp>
          <p:nvSpPr>
            <p:cNvPr id="26" name="Rectangle 10"/>
            <p:cNvSpPr>
              <a:spLocks noChangeArrowheads="1"/>
            </p:cNvSpPr>
            <p:nvPr/>
          </p:nvSpPr>
          <p:spPr bwMode="auto">
            <a:xfrm>
              <a:off x="2370490" y="3276497"/>
              <a:ext cx="1198005" cy="828674"/>
            </a:xfrm>
            <a:prstGeom prst="rect">
              <a:avLst/>
            </a:prstGeom>
            <a:solidFill>
              <a:srgbClr val="F39C1F"/>
            </a:solidFill>
            <a:ln w="0">
              <a:noFill/>
              <a:miter lim="800000"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anchor="ctr"/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0" fontAlgn="auto" hangingPunct="0">
                <a:spcBef>
                  <a:spcPts val="0"/>
                </a:spcBef>
                <a:buClr>
                  <a:srgbClr val="FF0000"/>
                </a:buClr>
                <a:buNone/>
                <a:defRPr/>
              </a:pPr>
              <a:r>
                <a:rPr lang="ru-RU" sz="1200" b="1" kern="0" dirty="0">
                  <a:solidFill>
                    <a:srgbClr val="FFFFFF"/>
                  </a:solidFill>
                  <a:latin typeface="Arial" pitchFamily="34" charset="0"/>
                  <a:cs typeface="Arial" pitchFamily="34" charset="0"/>
                </a:rPr>
                <a:t>Описание бизнеса</a:t>
              </a:r>
              <a:endParaRPr lang="de-DE" sz="1200" b="1" kern="0" dirty="0">
                <a:solidFill>
                  <a:srgbClr val="FFFFFF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7" name="Rectangle 11"/>
            <p:cNvSpPr>
              <a:spLocks noChangeArrowheads="1"/>
            </p:cNvSpPr>
            <p:nvPr/>
          </p:nvSpPr>
          <p:spPr bwMode="auto">
            <a:xfrm>
              <a:off x="3630791" y="3276498"/>
              <a:ext cx="1198005" cy="828672"/>
            </a:xfrm>
            <a:prstGeom prst="rect">
              <a:avLst/>
            </a:prstGeom>
            <a:solidFill>
              <a:schemeClr val="tx2"/>
            </a:solidFill>
            <a:ln w="0" algn="ctr">
              <a:noFill/>
              <a:miter lim="800000"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anchor="ctr"/>
            <a:lstStyle/>
            <a:p>
              <a:pPr algn="ctr" defTabSz="685800" eaLnBrk="0" hangingPunct="0">
                <a:buClr>
                  <a:srgbClr val="FF0000"/>
                </a:buClr>
              </a:pPr>
              <a:r>
                <a:rPr lang="ru-RU" sz="1200" b="1" kern="0" dirty="0">
                  <a:solidFill>
                    <a:srgbClr val="FFFFFF"/>
                  </a:solidFill>
                  <a:latin typeface="Arial" pitchFamily="34" charset="0"/>
                  <a:cs typeface="Arial" pitchFamily="34" charset="0"/>
                </a:rPr>
                <a:t>Карты процессов</a:t>
              </a:r>
              <a:endParaRPr lang="de-DE" sz="1200" b="1" kern="0" dirty="0">
                <a:solidFill>
                  <a:srgbClr val="FFFFFF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8" name="Rectangle 12"/>
            <p:cNvSpPr>
              <a:spLocks noChangeArrowheads="1"/>
            </p:cNvSpPr>
            <p:nvPr/>
          </p:nvSpPr>
          <p:spPr bwMode="auto">
            <a:xfrm>
              <a:off x="4879911" y="3276498"/>
              <a:ext cx="1198005" cy="828672"/>
            </a:xfrm>
            <a:prstGeom prst="rect">
              <a:avLst/>
            </a:prstGeom>
            <a:solidFill>
              <a:srgbClr val="F39C1F"/>
            </a:solidFill>
            <a:ln w="0" algn="ctr">
              <a:noFill/>
              <a:miter lim="800000"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anchor="ctr"/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0" fontAlgn="auto" hangingPunct="0"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None/>
                <a:defRPr/>
              </a:pPr>
              <a:r>
                <a:rPr lang="ru-RU" sz="1200" b="1" kern="0" dirty="0">
                  <a:solidFill>
                    <a:srgbClr val="FFFFFF"/>
                  </a:solidFill>
                  <a:latin typeface="Arial" pitchFamily="34" charset="0"/>
                  <a:cs typeface="Arial" pitchFamily="34" charset="0"/>
                </a:rPr>
                <a:t>Индикаторы продуктов и процесса</a:t>
              </a:r>
              <a:endParaRPr lang="de-DE" sz="1200" b="1" kern="0" dirty="0">
                <a:solidFill>
                  <a:srgbClr val="FFFFFF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0" name="Rectangle 19"/>
            <p:cNvSpPr>
              <a:spLocks noChangeArrowheads="1"/>
            </p:cNvSpPr>
            <p:nvPr/>
          </p:nvSpPr>
          <p:spPr bwMode="auto">
            <a:xfrm>
              <a:off x="7386137" y="3276498"/>
              <a:ext cx="1198005" cy="828674"/>
            </a:xfrm>
            <a:prstGeom prst="rect">
              <a:avLst/>
            </a:prstGeom>
            <a:solidFill>
              <a:srgbClr val="F39C1F"/>
            </a:solidFill>
            <a:ln w="0" algn="ctr">
              <a:noFill/>
              <a:miter lim="800000"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anchor="ctr"/>
            <a:lstStyle/>
            <a:p>
              <a:pPr algn="ctr" defTabSz="685800" eaLnBrk="0" hangingPunct="0">
                <a:buClr>
                  <a:srgbClr val="FF0000"/>
                </a:buClr>
              </a:pPr>
              <a:r>
                <a:rPr lang="ru-RU" sz="1200" b="1" kern="0" dirty="0">
                  <a:solidFill>
                    <a:srgbClr val="FFFFFF"/>
                  </a:solidFill>
                  <a:latin typeface="Arial" pitchFamily="34" charset="0"/>
                  <a:cs typeface="Arial" pitchFamily="34" charset="0"/>
                </a:rPr>
                <a:t>Рутинная </a:t>
              </a:r>
              <a:r>
                <a:rPr lang="en-US" sz="1200" b="1" kern="0" dirty="0">
                  <a:solidFill>
                    <a:srgbClr val="FFFFFF"/>
                  </a:solidFill>
                  <a:latin typeface="Arial" pitchFamily="34" charset="0"/>
                  <a:cs typeface="Arial" pitchFamily="34" charset="0"/>
                </a:rPr>
                <a:t>MCRS</a:t>
              </a:r>
              <a:endParaRPr lang="de-DE" sz="1200" b="1" kern="0" dirty="0">
                <a:solidFill>
                  <a:srgbClr val="FFFFFF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41" name="Titel 3"/>
          <p:cNvSpPr>
            <a:spLocks noGrp="1"/>
          </p:cNvSpPr>
          <p:nvPr>
            <p:ph type="title"/>
          </p:nvPr>
        </p:nvSpPr>
        <p:spPr>
          <a:xfrm>
            <a:off x="251520" y="123478"/>
            <a:ext cx="7971511" cy="327025"/>
          </a:xfrm>
        </p:spPr>
        <p:txBody>
          <a:bodyPr/>
          <a:lstStyle/>
          <a:p>
            <a:r>
              <a:rPr lang="ru-RU" dirty="0"/>
              <a:t>КОЛОННА МЕНЕДЖМЕНТ</a:t>
            </a:r>
            <a:endParaRPr lang="de-DE" dirty="0"/>
          </a:p>
        </p:txBody>
      </p:sp>
      <p:sp>
        <p:nvSpPr>
          <p:cNvPr id="43" name="Rectangle 13"/>
          <p:cNvSpPr>
            <a:spLocks noChangeArrowheads="1"/>
          </p:cNvSpPr>
          <p:nvPr/>
        </p:nvSpPr>
        <p:spPr bwMode="auto">
          <a:xfrm>
            <a:off x="4351549" y="1837392"/>
            <a:ext cx="1198005" cy="621504"/>
          </a:xfrm>
          <a:prstGeom prst="rect">
            <a:avLst/>
          </a:prstGeom>
          <a:solidFill>
            <a:srgbClr val="F39C1F"/>
          </a:solidFill>
          <a:ln w="9525" algn="ctr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lIns="86621" tIns="43311" rIns="86621" bIns="43311" anchor="ctr"/>
          <a:lstStyle/>
          <a:p>
            <a:pPr algn="ctr" defTabSz="866775" eaLnBrk="0" hangingPunct="0">
              <a:buClr>
                <a:srgbClr val="FF0000"/>
              </a:buClr>
            </a:pPr>
            <a:r>
              <a:rPr lang="ru-RU" sz="1100" b="1" kern="0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Решение проблем</a:t>
            </a:r>
            <a:endParaRPr lang="de-DE" sz="1100" b="1" kern="0" dirty="0">
              <a:solidFill>
                <a:srgbClr val="FFFF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4" name="Rectangle 11"/>
          <p:cNvSpPr>
            <a:spLocks noChangeArrowheads="1"/>
          </p:cNvSpPr>
          <p:nvPr/>
        </p:nvSpPr>
        <p:spPr bwMode="auto">
          <a:xfrm>
            <a:off x="6228184" y="2742334"/>
            <a:ext cx="1198005" cy="621504"/>
          </a:xfrm>
          <a:prstGeom prst="rect">
            <a:avLst/>
          </a:prstGeom>
          <a:solidFill>
            <a:srgbClr val="F39C1F"/>
          </a:solidFill>
          <a:ln w="0" algn="ctr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fontAlgn="auto" hangingPunct="0">
              <a:spcBef>
                <a:spcPts val="0"/>
              </a:spcBef>
              <a:buClr>
                <a:srgbClr val="FF0000"/>
              </a:buClr>
              <a:buNone/>
              <a:defRPr/>
            </a:pPr>
            <a:r>
              <a:rPr lang="ru-RU" sz="1200" b="1" kern="0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Создание и исполнение стандартов</a:t>
            </a:r>
          </a:p>
        </p:txBody>
      </p:sp>
    </p:spTree>
    <p:extLst>
      <p:ext uri="{BB962C8B-B14F-4D97-AF65-F5344CB8AC3E}">
        <p14:creationId xmlns:p14="http://schemas.microsoft.com/office/powerpoint/2010/main" val="21299204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EFFBFFE6-92C4-D64E-BC08-EB31C7853F45}" type="slidenum">
              <a:rPr lang="en-US" smtClean="0"/>
              <a:pPr defTabSz="457200"/>
              <a:t>5</a:t>
            </a:fld>
            <a:endParaRPr lang="en-US"/>
          </a:p>
        </p:txBody>
      </p:sp>
      <p:sp>
        <p:nvSpPr>
          <p:cNvPr id="8" name="Прямоугольник 7"/>
          <p:cNvSpPr/>
          <p:nvPr/>
        </p:nvSpPr>
        <p:spPr>
          <a:xfrm>
            <a:off x="0" y="0"/>
            <a:ext cx="9144000" cy="156966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>
              <a:spcBef>
                <a:spcPct val="0"/>
              </a:spcBef>
            </a:pPr>
            <a:endParaRPr lang="ru-RU" sz="3200" b="1" dirty="0">
              <a:solidFill>
                <a:srgbClr val="C3002F"/>
              </a:solidFill>
              <a:latin typeface="AB InBev Headlines" pitchFamily="50" charset="0"/>
              <a:ea typeface="+mj-ea"/>
              <a:cs typeface="+mj-cs"/>
            </a:endParaRPr>
          </a:p>
        </p:txBody>
      </p:sp>
      <p:pic>
        <p:nvPicPr>
          <p:cNvPr id="7170" name="Picture 2" descr="ÐÐ¾ÑÐ¾Ð¶ÐµÐµ Ð¸Ð·Ð¾Ð±ÑÐ°Ð¶ÐµÐ½Ð¸Ðµ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779662"/>
            <a:ext cx="6048672" cy="2829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el 3"/>
          <p:cNvSpPr>
            <a:spLocks noGrp="1"/>
          </p:cNvSpPr>
          <p:nvPr>
            <p:ph type="title"/>
          </p:nvPr>
        </p:nvSpPr>
        <p:spPr>
          <a:xfrm>
            <a:off x="272897" y="123478"/>
            <a:ext cx="7971511" cy="327025"/>
          </a:xfrm>
        </p:spPr>
        <p:txBody>
          <a:bodyPr>
            <a:normAutofit fontScale="90000"/>
          </a:bodyPr>
          <a:lstStyle/>
          <a:p>
            <a:r>
              <a:rPr lang="ru-RU" sz="2400" dirty="0">
                <a:solidFill>
                  <a:srgbClr val="C3002F"/>
                </a:solidFill>
              </a:rPr>
              <a:t>ОСНОВЫ КАРТ ПРОЦЕССОВ</a:t>
            </a:r>
            <a:r>
              <a:rPr lang="en-US" sz="2400" dirty="0">
                <a:solidFill>
                  <a:srgbClr val="C3002F"/>
                </a:solidFill>
              </a:rPr>
              <a:t>  (SDCA*)</a:t>
            </a:r>
            <a:endParaRPr lang="ru-RU" sz="2400" dirty="0">
              <a:solidFill>
                <a:srgbClr val="C3002F"/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0" y="1033160"/>
            <a:ext cx="9143999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lstStyle/>
          <a:p>
            <a:pPr algn="ctr"/>
            <a:r>
              <a:rPr lang="ru-RU" sz="1400" dirty="0"/>
              <a:t>Карта процесса - это визуальный инструмент, который шаг за шагом документирует процесс, разбивая его на части в рамках определенной бизнес-сферы.</a:t>
            </a:r>
            <a:endParaRPr lang="ru-RU" sz="1400" dirty="0">
              <a:solidFill>
                <a:schemeClr val="tx1"/>
              </a:solidFill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-1" y="4465444"/>
            <a:ext cx="914399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*</a:t>
            </a:r>
            <a:r>
              <a:rPr lang="ru-RU" sz="1600" dirty="0">
                <a:solidFill>
                  <a:schemeClr val="bg1">
                    <a:lumMod val="65000"/>
                  </a:schemeClr>
                </a:solidFill>
              </a:rPr>
              <a:t>цикл SDCA (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standardize-do-check-act</a:t>
            </a:r>
            <a:r>
              <a:rPr lang="ru-RU" sz="1600" dirty="0">
                <a:solidFill>
                  <a:schemeClr val="bg1">
                    <a:lumMod val="65000"/>
                  </a:schemeClr>
                </a:solidFill>
              </a:rPr>
              <a:t>)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 - </a:t>
            </a:r>
            <a:r>
              <a:rPr lang="ru-RU" sz="1600" dirty="0">
                <a:solidFill>
                  <a:schemeClr val="bg1">
                    <a:lumMod val="65000"/>
                  </a:schemeClr>
                </a:solidFill>
              </a:rPr>
              <a:t>стандартизируй - делай - проверяй - внедряй</a:t>
            </a:r>
          </a:p>
        </p:txBody>
      </p:sp>
    </p:spTree>
    <p:extLst>
      <p:ext uri="{BB962C8B-B14F-4D97-AF65-F5344CB8AC3E}">
        <p14:creationId xmlns:p14="http://schemas.microsoft.com/office/powerpoint/2010/main" val="2332789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660232" y="907149"/>
            <a:ext cx="2376264" cy="3802194"/>
          </a:xfrm>
          <a:prstGeom prst="rect">
            <a:avLst/>
          </a:prstGeom>
          <a:gradFill flip="none" rotWithShape="1">
            <a:gsLst>
              <a:gs pos="0">
                <a:schemeClr val="tx2">
                  <a:tint val="66000"/>
                  <a:satMod val="160000"/>
                  <a:alpha val="73000"/>
                </a:schemeClr>
              </a:gs>
              <a:gs pos="50000">
                <a:schemeClr val="tx2">
                  <a:tint val="44500"/>
                  <a:satMod val="160000"/>
                  <a:alpha val="40000"/>
                </a:schemeClr>
              </a:gs>
              <a:gs pos="100000">
                <a:schemeClr val="tx2">
                  <a:tint val="23500"/>
                  <a:satMod val="160000"/>
                  <a:alpha val="24000"/>
                </a:schemeClr>
              </a:gs>
            </a:gsLst>
            <a:lin ang="16200000" scaled="1"/>
            <a:tileRect/>
          </a:gradFill>
          <a:ln w="9525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7" name="Прямоугольник 6"/>
          <p:cNvSpPr/>
          <p:nvPr/>
        </p:nvSpPr>
        <p:spPr>
          <a:xfrm>
            <a:off x="0" y="0"/>
            <a:ext cx="9144000" cy="1569660"/>
          </a:xfrm>
          <a:prstGeom prst="rect">
            <a:avLst/>
          </a:prstGeom>
        </p:spPr>
        <p:txBody>
          <a:bodyPr vert="horz" lIns="0" tIns="0" rIns="0" bIns="0" rtlCol="0" anchor="ctr">
            <a:normAutofit fontScale="97500"/>
          </a:bodyPr>
          <a:lstStyle/>
          <a:p>
            <a:pPr defTabSz="685800">
              <a:lnSpc>
                <a:spcPct val="90000"/>
              </a:lnSpc>
              <a:spcBef>
                <a:spcPct val="0"/>
              </a:spcBef>
            </a:pPr>
            <a:endParaRPr lang="ru-RU" sz="2400" b="1" dirty="0">
              <a:solidFill>
                <a:srgbClr val="C3002F"/>
              </a:solidFill>
              <a:latin typeface="AB InBev Headlines" pitchFamily="50" charset="0"/>
              <a:ea typeface="+mj-ea"/>
              <a:cs typeface="+mj-cs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907148"/>
            <a:ext cx="6001197" cy="38248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6660232" y="771550"/>
            <a:ext cx="2483768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>
                <a:ln>
                  <a:solidFill>
                    <a:schemeClr val="bg2"/>
                  </a:solidFill>
                </a:ln>
                <a:gradFill flip="none" rotWithShape="1">
                  <a:gsLst>
                    <a:gs pos="0">
                      <a:schemeClr val="accent1">
                        <a:tint val="66000"/>
                        <a:satMod val="160000"/>
                      </a:schemeClr>
                    </a:gs>
                    <a:gs pos="50000">
                      <a:schemeClr val="accent1">
                        <a:tint val="44500"/>
                        <a:satMod val="160000"/>
                      </a:schemeClr>
                    </a:gs>
                    <a:gs pos="100000">
                      <a:schemeClr val="accent1"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a typeface="Verdana" panose="020B0604030504040204" pitchFamily="34" charset="0"/>
                <a:cs typeface="Verdana" panose="020B0604030504040204" pitchFamily="34" charset="0"/>
              </a:rPr>
              <a:t>Уровень 1</a:t>
            </a:r>
            <a:r>
              <a:rPr lang="nl-NL" sz="2800" b="1" dirty="0">
                <a:ln>
                  <a:solidFill>
                    <a:schemeClr val="bg2"/>
                  </a:solidFill>
                </a:ln>
                <a:gradFill flip="none" rotWithShape="1">
                  <a:gsLst>
                    <a:gs pos="0">
                      <a:schemeClr val="accent1">
                        <a:tint val="66000"/>
                        <a:satMod val="160000"/>
                      </a:schemeClr>
                    </a:gs>
                    <a:gs pos="50000">
                      <a:schemeClr val="accent1">
                        <a:tint val="44500"/>
                        <a:satMod val="160000"/>
                      </a:schemeClr>
                    </a:gs>
                    <a:gs pos="100000">
                      <a:schemeClr val="accent1"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a typeface="Verdana" panose="020B0604030504040204" pitchFamily="34" charset="0"/>
                <a:cs typeface="Verdana" panose="020B0604030504040204" pitchFamily="34" charset="0"/>
              </a:rPr>
              <a:t>:</a:t>
            </a:r>
          </a:p>
          <a:p>
            <a:pPr algn="ctr"/>
            <a:r>
              <a:rPr lang="ru-RU" sz="2000" b="1" dirty="0">
                <a:solidFill>
                  <a:schemeClr val="tx2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Критический продукт</a:t>
            </a:r>
            <a:endParaRPr lang="nl-NL" sz="2000" b="1" dirty="0">
              <a:solidFill>
                <a:schemeClr val="tx2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660232" y="1716071"/>
            <a:ext cx="2483768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algn="ctr">
              <a:defRPr sz="2400" b="1">
                <a:ln>
                  <a:solidFill>
                    <a:schemeClr val="bg2"/>
                  </a:solidFill>
                </a:ln>
                <a:gradFill flip="none" rotWithShape="1">
                  <a:gsLst>
                    <a:gs pos="0">
                      <a:schemeClr val="accent1">
                        <a:tint val="66000"/>
                        <a:satMod val="160000"/>
                      </a:schemeClr>
                    </a:gs>
                    <a:gs pos="50000">
                      <a:schemeClr val="accent1">
                        <a:tint val="44500"/>
                        <a:satMod val="160000"/>
                      </a:schemeClr>
                    </a:gs>
                    <a:gs pos="100000">
                      <a:schemeClr val="accent1"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ru-RU" sz="2800" dirty="0"/>
              <a:t>Уровень </a:t>
            </a:r>
            <a:r>
              <a:rPr lang="nl-NL" sz="2800" dirty="0">
                <a:latin typeface="+mn-lt"/>
              </a:rPr>
              <a:t>2: </a:t>
            </a:r>
          </a:p>
          <a:p>
            <a:r>
              <a:rPr lang="ru-RU" sz="2000" dirty="0">
                <a:ln>
                  <a:noFill/>
                </a:ln>
                <a:solidFill>
                  <a:schemeClr val="tx2"/>
                </a:solidFill>
                <a:latin typeface="+mn-lt"/>
              </a:rPr>
              <a:t>Критический процесс</a:t>
            </a:r>
            <a:endParaRPr lang="nl-NL" sz="2000" dirty="0">
              <a:ln>
                <a:noFill/>
              </a:ln>
              <a:solidFill>
                <a:schemeClr val="tx2"/>
              </a:solidFill>
              <a:latin typeface="+mn-l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660232" y="2636424"/>
            <a:ext cx="2483768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algn="ctr">
              <a:defRPr sz="2400" b="1">
                <a:ln>
                  <a:solidFill>
                    <a:schemeClr val="bg2"/>
                  </a:solidFill>
                </a:ln>
                <a:gradFill flip="none" rotWithShape="1">
                  <a:gsLst>
                    <a:gs pos="0">
                      <a:schemeClr val="accent1">
                        <a:tint val="66000"/>
                        <a:satMod val="160000"/>
                      </a:schemeClr>
                    </a:gs>
                    <a:gs pos="50000">
                      <a:schemeClr val="accent1">
                        <a:tint val="44500"/>
                        <a:satMod val="160000"/>
                      </a:schemeClr>
                    </a:gs>
                    <a:gs pos="100000">
                      <a:schemeClr val="accent1"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ru-RU" sz="2800" dirty="0"/>
              <a:t>Уровень </a:t>
            </a:r>
            <a:r>
              <a:rPr lang="nl-NL" sz="2800" dirty="0">
                <a:latin typeface="+mn-lt"/>
              </a:rPr>
              <a:t>3:</a:t>
            </a:r>
          </a:p>
          <a:p>
            <a:r>
              <a:rPr lang="ru-RU" sz="2000" dirty="0">
                <a:ln>
                  <a:noFill/>
                </a:ln>
                <a:solidFill>
                  <a:schemeClr val="tx2"/>
                </a:solidFill>
                <a:latin typeface="+mn-lt"/>
              </a:rPr>
              <a:t>Критические активности</a:t>
            </a:r>
            <a:endParaRPr lang="en-US" sz="2000" dirty="0">
              <a:ln>
                <a:noFill/>
              </a:ln>
              <a:solidFill>
                <a:schemeClr val="tx2"/>
              </a:solidFill>
              <a:latin typeface="+mn-l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60231" y="3660287"/>
            <a:ext cx="2381525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algn="ctr">
              <a:defRPr sz="2400" b="1">
                <a:ln>
                  <a:solidFill>
                    <a:schemeClr val="bg2"/>
                  </a:solidFill>
                </a:ln>
                <a:gradFill flip="none" rotWithShape="1">
                  <a:gsLst>
                    <a:gs pos="0">
                      <a:schemeClr val="accent1">
                        <a:tint val="66000"/>
                        <a:satMod val="160000"/>
                      </a:schemeClr>
                    </a:gs>
                    <a:gs pos="50000">
                      <a:schemeClr val="accent1">
                        <a:tint val="44500"/>
                        <a:satMod val="160000"/>
                      </a:schemeClr>
                    </a:gs>
                    <a:gs pos="100000">
                      <a:schemeClr val="accent1"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ru-RU" sz="2800" dirty="0"/>
              <a:t>Уровень </a:t>
            </a:r>
            <a:r>
              <a:rPr lang="nl-NL" sz="2800" dirty="0">
                <a:latin typeface="+mn-lt"/>
              </a:rPr>
              <a:t>4: </a:t>
            </a:r>
          </a:p>
          <a:p>
            <a:r>
              <a:rPr lang="ru-RU" sz="2000" dirty="0">
                <a:ln>
                  <a:noFill/>
                </a:ln>
                <a:solidFill>
                  <a:schemeClr val="tx2"/>
                </a:solidFill>
                <a:latin typeface="+mn-lt"/>
              </a:rPr>
              <a:t>Критические задачи</a:t>
            </a:r>
            <a:endParaRPr lang="en-US" sz="2000" dirty="0">
              <a:ln>
                <a:noFill/>
              </a:ln>
              <a:solidFill>
                <a:schemeClr val="tx2"/>
              </a:solidFill>
              <a:latin typeface="+mn-lt"/>
            </a:endParaRPr>
          </a:p>
        </p:txBody>
      </p:sp>
      <p:sp>
        <p:nvSpPr>
          <p:cNvPr id="18" name="Titel 3"/>
          <p:cNvSpPr>
            <a:spLocks noGrp="1"/>
          </p:cNvSpPr>
          <p:nvPr>
            <p:ph type="title"/>
          </p:nvPr>
        </p:nvSpPr>
        <p:spPr>
          <a:xfrm>
            <a:off x="251520" y="123478"/>
            <a:ext cx="7971511" cy="327025"/>
          </a:xfrm>
        </p:spPr>
        <p:txBody>
          <a:bodyPr>
            <a:normAutofit fontScale="90000"/>
          </a:bodyPr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/>
            </a:pPr>
            <a:r>
              <a:rPr lang="ru-RU" sz="2400" dirty="0">
                <a:solidFill>
                  <a:srgbClr val="C3002F"/>
                </a:solidFill>
                <a:cs typeface="Arial"/>
              </a:rPr>
              <a:t>ВИЗУАЛИЗАЦИЯ КАРТЫ ПРОЦЕССА</a:t>
            </a:r>
            <a:endParaRPr lang="ru-RU" sz="2400" dirty="0">
              <a:solidFill>
                <a:srgbClr val="C3002F"/>
              </a:solidFill>
              <a:latin typeface="AB InBev Headlines"/>
            </a:endParaRPr>
          </a:p>
        </p:txBody>
      </p:sp>
    </p:spTree>
    <p:extLst>
      <p:ext uri="{BB962C8B-B14F-4D97-AF65-F5344CB8AC3E}">
        <p14:creationId xmlns:p14="http://schemas.microsoft.com/office/powerpoint/2010/main" val="2458367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EFFBFFE6-92C4-D64E-BC08-EB31C7853F45}" type="slidenum">
              <a:rPr lang="en-US" smtClean="0"/>
              <a:pPr defTabSz="457200"/>
              <a:t>7</a:t>
            </a:fld>
            <a:endParaRPr lang="en-US"/>
          </a:p>
        </p:txBody>
      </p:sp>
      <p:pic>
        <p:nvPicPr>
          <p:cNvPr id="7" name="Picture 67"/>
          <p:cNvPicPr/>
          <p:nvPr/>
        </p:nvPicPr>
        <p:blipFill>
          <a:blip r:embed="rId2"/>
          <a:stretch>
            <a:fillRect/>
          </a:stretch>
        </p:blipFill>
        <p:spPr>
          <a:xfrm>
            <a:off x="755576" y="1103078"/>
            <a:ext cx="4429125" cy="3102610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0" y="0"/>
            <a:ext cx="9144000" cy="156966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>
              <a:spcBef>
                <a:spcPct val="0"/>
              </a:spcBef>
            </a:pPr>
            <a:endParaRPr lang="ru-RU" sz="3200" b="1" dirty="0">
              <a:solidFill>
                <a:srgbClr val="C3002F"/>
              </a:solidFill>
              <a:latin typeface="AB InBev Headlines" pitchFamily="50" charset="0"/>
              <a:ea typeface="+mj-ea"/>
              <a:cs typeface="+mj-cs"/>
            </a:endParaRPr>
          </a:p>
        </p:txBody>
      </p:sp>
      <p:sp>
        <p:nvSpPr>
          <p:cNvPr id="9" name="Line Callout 1 8"/>
          <p:cNvSpPr/>
          <p:nvPr/>
        </p:nvSpPr>
        <p:spPr>
          <a:xfrm>
            <a:off x="6238820" y="123478"/>
            <a:ext cx="2005588" cy="1569660"/>
          </a:xfrm>
          <a:prstGeom prst="borderCallout1">
            <a:avLst>
              <a:gd name="adj1" fmla="val 18750"/>
              <a:gd name="adj2" fmla="val -8333"/>
              <a:gd name="adj3" fmla="val 32759"/>
              <a:gd name="adj4" fmla="val -161047"/>
            </a:avLst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Название критической активности (сверьтесь с Матрицей критических активностей). Для каждого критического действия создайте отдельную страницу для визуализации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10" name="Line Callout 1 68"/>
          <p:cNvSpPr/>
          <p:nvPr/>
        </p:nvSpPr>
        <p:spPr>
          <a:xfrm>
            <a:off x="6238818" y="1779662"/>
            <a:ext cx="2005589" cy="830997"/>
          </a:xfrm>
          <a:prstGeom prst="borderCallout1">
            <a:avLst>
              <a:gd name="adj1" fmla="val 18750"/>
              <a:gd name="adj2" fmla="val -8333"/>
              <a:gd name="adj3" fmla="val 104350"/>
              <a:gd name="adj4" fmla="val -209237"/>
            </a:avLst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Название критических задач (проверьте их с помощью Матрицы критических задач)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11" name="Line Callout 1 69"/>
          <p:cNvSpPr/>
          <p:nvPr/>
        </p:nvSpPr>
        <p:spPr>
          <a:xfrm>
            <a:off x="6260533" y="2658274"/>
            <a:ext cx="2016224" cy="1569660"/>
          </a:xfrm>
          <a:prstGeom prst="borderCallout1">
            <a:avLst>
              <a:gd name="adj1" fmla="val 18750"/>
              <a:gd name="adj2" fmla="val -8333"/>
              <a:gd name="adj3" fmla="val 13441"/>
              <a:gd name="adj4" fmla="val -112980"/>
            </a:avLst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Название критических PI и KPI (проверьте связь между ними через дерево KPI), критические </a:t>
            </a:r>
            <a:r>
              <a:rPr lang="en-US" sz="1200" dirty="0"/>
              <a:t>SOP </a:t>
            </a:r>
            <a:r>
              <a:rPr lang="ru-RU" sz="1200" dirty="0"/>
              <a:t>и названия триггеров, которые есть у вас для каждой критической задачи</a:t>
            </a:r>
            <a:endParaRPr lang="ru-RU" sz="1200" dirty="0">
              <a:solidFill>
                <a:schemeClr val="tx1"/>
              </a:solidFill>
            </a:endParaRPr>
          </a:p>
        </p:txBody>
      </p:sp>
      <p:cxnSp>
        <p:nvCxnSpPr>
          <p:cNvPr id="13" name="Прямая соединительная линия 12"/>
          <p:cNvCxnSpPr/>
          <p:nvPr/>
        </p:nvCxnSpPr>
        <p:spPr>
          <a:xfrm flipV="1">
            <a:off x="2771800" y="987574"/>
            <a:ext cx="3600400" cy="58208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/>
          <p:nvPr/>
        </p:nvCxnSpPr>
        <p:spPr>
          <a:xfrm flipV="1">
            <a:off x="1907704" y="2427734"/>
            <a:ext cx="4464496" cy="6679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Левая фигурная скобка 15"/>
          <p:cNvSpPr/>
          <p:nvPr/>
        </p:nvSpPr>
        <p:spPr>
          <a:xfrm rot="16200000">
            <a:off x="3203849" y="1967150"/>
            <a:ext cx="540060" cy="2844316"/>
          </a:xfrm>
          <a:prstGeom prst="leftBrace">
            <a:avLst>
              <a:gd name="adj1" fmla="val 20622"/>
              <a:gd name="adj2" fmla="val 5171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7" name="Прямая соединительная линия 16"/>
          <p:cNvCxnSpPr/>
          <p:nvPr/>
        </p:nvCxnSpPr>
        <p:spPr>
          <a:xfrm flipV="1">
            <a:off x="3521571" y="3389307"/>
            <a:ext cx="2778621" cy="1927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Прямоугольник 18"/>
          <p:cNvSpPr/>
          <p:nvPr/>
        </p:nvSpPr>
        <p:spPr>
          <a:xfrm>
            <a:off x="0" y="4250227"/>
            <a:ext cx="9144000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Карты процесса должны быть доступны для сотрудников в их рабочей области. Поместите страницу карты процесса на OWS (для критических OWS это обязательно)</a:t>
            </a:r>
          </a:p>
        </p:txBody>
      </p:sp>
      <p:sp>
        <p:nvSpPr>
          <p:cNvPr id="18" name="Прямоугольник 6"/>
          <p:cNvSpPr/>
          <p:nvPr/>
        </p:nvSpPr>
        <p:spPr>
          <a:xfrm>
            <a:off x="152399" y="80392"/>
            <a:ext cx="5211689" cy="403126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spcBef>
                <a:spcPct val="0"/>
              </a:spcBef>
            </a:pPr>
            <a:r>
              <a:rPr lang="ru-RU" sz="2200" b="1" dirty="0">
                <a:solidFill>
                  <a:srgbClr val="C3002F"/>
                </a:solidFill>
                <a:latin typeface="+mj-lt"/>
                <a:ea typeface="+mj-ea"/>
                <a:cs typeface="+mj-cs"/>
              </a:rPr>
              <a:t>ВИЗУАЛИЗАЦИЯ КАРТ </a:t>
            </a:r>
            <a:r>
              <a:rPr lang="ru-RU" sz="2200" b="1" dirty="0">
                <a:solidFill>
                  <a:srgbClr val="C3002F"/>
                </a:solidFill>
                <a:latin typeface="+mj-lt"/>
              </a:rPr>
              <a:t>ПРОЦЕССА </a:t>
            </a:r>
            <a:endParaRPr lang="ru-RU" sz="2200" b="1" dirty="0">
              <a:solidFill>
                <a:srgbClr val="C3002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239198" y="1642488"/>
            <a:ext cx="1368152" cy="5534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700" dirty="0">
                <a:solidFill>
                  <a:schemeClr val="tx1"/>
                </a:solidFill>
              </a:rPr>
              <a:t>Здесь можно разместить фото работников, которые выполняют критическую задачу или фото оборудования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1259632" y="1236873"/>
            <a:ext cx="1512168" cy="291043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1187624" y="1203598"/>
            <a:ext cx="18722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800" dirty="0"/>
              <a:t>Уровень 3: Критические активности</a:t>
            </a:r>
          </a:p>
          <a:p>
            <a:r>
              <a:rPr lang="ru-RU" sz="800" dirty="0"/>
              <a:t> </a:t>
            </a:r>
          </a:p>
        </p:txBody>
      </p:sp>
      <p:sp>
        <p:nvSpPr>
          <p:cNvPr id="20" name="Прямоугольник 19"/>
          <p:cNvSpPr/>
          <p:nvPr/>
        </p:nvSpPr>
        <p:spPr>
          <a:xfrm>
            <a:off x="1331640" y="1553500"/>
            <a:ext cx="1368152" cy="4421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700" dirty="0">
                <a:solidFill>
                  <a:schemeClr val="tx1"/>
                </a:solidFill>
              </a:rPr>
              <a:t>Разместите здесь фото рабочего места, исполнителя критической задачи</a:t>
            </a:r>
          </a:p>
        </p:txBody>
      </p:sp>
      <p:sp>
        <p:nvSpPr>
          <p:cNvPr id="22" name="Прямоугольник 21"/>
          <p:cNvSpPr/>
          <p:nvPr/>
        </p:nvSpPr>
        <p:spPr>
          <a:xfrm>
            <a:off x="1079612" y="2698007"/>
            <a:ext cx="972108" cy="277407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TextBox 22"/>
          <p:cNvSpPr txBox="1"/>
          <p:nvPr/>
        </p:nvSpPr>
        <p:spPr>
          <a:xfrm>
            <a:off x="1007604" y="2686149"/>
            <a:ext cx="1188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800" dirty="0"/>
              <a:t>Уровень 4: Критическая задача</a:t>
            </a:r>
          </a:p>
          <a:p>
            <a:r>
              <a:rPr lang="ru-RU" sz="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730507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Arredondar Retângulo de Canto Diagonal 5"/>
          <p:cNvSpPr/>
          <p:nvPr/>
        </p:nvSpPr>
        <p:spPr>
          <a:xfrm>
            <a:off x="1506687" y="2023880"/>
            <a:ext cx="4355580" cy="983911"/>
          </a:xfrm>
          <a:prstGeom prst="round2DiagRect">
            <a:avLst>
              <a:gd name="adj1" fmla="val 16876"/>
              <a:gd name="adj2" fmla="val 0"/>
            </a:avLst>
          </a:prstGeom>
          <a:solidFill>
            <a:schemeClr val="bg1"/>
          </a:solidFill>
          <a:ln w="9525" cap="flat" cmpd="sng" algn="ctr">
            <a:solidFill>
              <a:schemeClr val="bg1">
                <a:lumMod val="65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407" name="Arredondar Retângulo de Canto Diagonal 5"/>
          <p:cNvSpPr/>
          <p:nvPr/>
        </p:nvSpPr>
        <p:spPr>
          <a:xfrm>
            <a:off x="6041526" y="1851669"/>
            <a:ext cx="1462483" cy="1132493"/>
          </a:xfrm>
          <a:prstGeom prst="round2DiagRect">
            <a:avLst>
              <a:gd name="adj1" fmla="val 18034"/>
              <a:gd name="adj2" fmla="val 0"/>
            </a:avLst>
          </a:prstGeom>
          <a:solidFill>
            <a:schemeClr val="bg1"/>
          </a:solidFill>
          <a:ln w="9525" cap="flat" cmpd="sng" algn="ctr">
            <a:solidFill>
              <a:schemeClr val="bg1">
                <a:lumMod val="65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14" name="Rectangle 3"/>
          <p:cNvSpPr txBox="1">
            <a:spLocks noChangeArrowheads="1"/>
          </p:cNvSpPr>
          <p:nvPr/>
        </p:nvSpPr>
        <p:spPr bwMode="auto">
          <a:xfrm>
            <a:off x="0" y="968410"/>
            <a:ext cx="9144000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ru-RU"/>
            </a:defPPr>
            <a:lvl1pPr algn="ctr">
              <a:defRPr sz="14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ru-RU" dirty="0"/>
              <a:t>Индикаторы должны контролироваться посредством постоянных проверок и немедленных рабочих корректировок при обнаружении любого отклонения.</a:t>
            </a:r>
            <a:endParaRPr lang="en-US" dirty="0"/>
          </a:p>
        </p:txBody>
      </p:sp>
      <p:sp>
        <p:nvSpPr>
          <p:cNvPr id="197" name="Rectangle 13"/>
          <p:cNvSpPr>
            <a:spLocks noChangeArrowheads="1"/>
          </p:cNvSpPr>
          <p:nvPr/>
        </p:nvSpPr>
        <p:spPr bwMode="auto">
          <a:xfrm>
            <a:off x="2969170" y="2703048"/>
            <a:ext cx="561051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rPr>
              <a:t>Process </a:t>
            </a:r>
          </a:p>
        </p:txBody>
      </p:sp>
      <p:sp>
        <p:nvSpPr>
          <p:cNvPr id="198" name="Rectangle 14"/>
          <p:cNvSpPr>
            <a:spLocks noChangeArrowheads="1"/>
          </p:cNvSpPr>
          <p:nvPr/>
        </p:nvSpPr>
        <p:spPr bwMode="auto">
          <a:xfrm>
            <a:off x="3009579" y="2832632"/>
            <a:ext cx="541815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rPr>
              <a:t>(MEAN)</a:t>
            </a:r>
          </a:p>
        </p:txBody>
      </p:sp>
      <p:sp>
        <p:nvSpPr>
          <p:cNvPr id="386" name="Rectangle 68"/>
          <p:cNvSpPr>
            <a:spLocks noChangeArrowheads="1"/>
          </p:cNvSpPr>
          <p:nvPr/>
        </p:nvSpPr>
        <p:spPr bwMode="auto">
          <a:xfrm>
            <a:off x="3308548" y="2600068"/>
            <a:ext cx="90409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ru-RU" sz="13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j-lt"/>
              </a:rPr>
              <a:t>Процессы</a:t>
            </a:r>
            <a:br>
              <a:rPr dirty="0">
                <a:latin typeface="+mj-lt"/>
              </a:rPr>
            </a:br>
            <a:r>
              <a:rPr kumimoji="0" lang="en-US" sz="13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j-lt"/>
              </a:rPr>
              <a:t>(</a:t>
            </a:r>
            <a:r>
              <a:rPr kumimoji="0" lang="ru-RU" sz="13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+mj-lt"/>
              </a:rPr>
              <a:t>Средства</a:t>
            </a:r>
            <a:r>
              <a:rPr kumimoji="0" lang="en-US" sz="13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j-lt"/>
              </a:rPr>
              <a:t>)</a:t>
            </a:r>
          </a:p>
        </p:txBody>
      </p:sp>
      <p:sp>
        <p:nvSpPr>
          <p:cNvPr id="387" name="Rectangle 114"/>
          <p:cNvSpPr>
            <a:spLocks noChangeArrowheads="1"/>
          </p:cNvSpPr>
          <p:nvPr/>
        </p:nvSpPr>
        <p:spPr bwMode="auto">
          <a:xfrm>
            <a:off x="6389770" y="2538527"/>
            <a:ext cx="94256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j-lt"/>
              </a:rPr>
              <a:t>(</a:t>
            </a:r>
            <a:r>
              <a:rPr lang="ru-RU" sz="1300" b="1" kern="0" noProof="0" dirty="0">
                <a:solidFill>
                  <a:srgbClr val="800000"/>
                </a:solidFill>
                <a:latin typeface="+mj-lt"/>
              </a:rPr>
              <a:t>Конечный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300" b="1" i="0" u="none" strike="noStrike" kern="0" cap="none" spc="0" normalizeH="0" baseline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+mj-lt"/>
              </a:rPr>
              <a:t>результат</a:t>
            </a:r>
            <a:r>
              <a:rPr kumimoji="0" lang="en-US" sz="13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j-lt"/>
              </a:rPr>
              <a:t>)</a:t>
            </a:r>
          </a:p>
        </p:txBody>
      </p:sp>
      <p:sp>
        <p:nvSpPr>
          <p:cNvPr id="391" name="Freeform 77"/>
          <p:cNvSpPr>
            <a:spLocks/>
          </p:cNvSpPr>
          <p:nvPr/>
        </p:nvSpPr>
        <p:spPr bwMode="auto">
          <a:xfrm>
            <a:off x="1803277" y="2228078"/>
            <a:ext cx="505797" cy="272755"/>
          </a:xfrm>
          <a:custGeom>
            <a:avLst/>
            <a:gdLst>
              <a:gd name="T0" fmla="*/ 272 w 363"/>
              <a:gd name="T1" fmla="*/ 0 h 261"/>
              <a:gd name="T2" fmla="*/ 0 w 363"/>
              <a:gd name="T3" fmla="*/ 0 h 261"/>
              <a:gd name="T4" fmla="*/ 0 w 363"/>
              <a:gd name="T5" fmla="*/ 261 h 261"/>
              <a:gd name="T6" fmla="*/ 272 w 363"/>
              <a:gd name="T7" fmla="*/ 261 h 261"/>
              <a:gd name="T8" fmla="*/ 363 w 363"/>
              <a:gd name="T9" fmla="*/ 130 h 261"/>
              <a:gd name="T10" fmla="*/ 272 w 363"/>
              <a:gd name="T11" fmla="*/ 0 h 26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63"/>
              <a:gd name="T19" fmla="*/ 0 h 261"/>
              <a:gd name="T20" fmla="*/ 363 w 363"/>
              <a:gd name="T21" fmla="*/ 261 h 26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63" h="261">
                <a:moveTo>
                  <a:pt x="272" y="0"/>
                </a:moveTo>
                <a:lnTo>
                  <a:pt x="0" y="0"/>
                </a:lnTo>
                <a:lnTo>
                  <a:pt x="0" y="261"/>
                </a:lnTo>
                <a:lnTo>
                  <a:pt x="272" y="261"/>
                </a:lnTo>
                <a:lnTo>
                  <a:pt x="363" y="130"/>
                </a:lnTo>
                <a:lnTo>
                  <a:pt x="272" y="0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6350" cap="rnd">
            <a:noFill/>
            <a:round/>
            <a:headEnd/>
            <a:tailEnd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392" name="Freeform 80"/>
          <p:cNvSpPr>
            <a:spLocks/>
          </p:cNvSpPr>
          <p:nvPr/>
        </p:nvSpPr>
        <p:spPr bwMode="auto">
          <a:xfrm>
            <a:off x="3808816" y="2228078"/>
            <a:ext cx="504404" cy="272755"/>
          </a:xfrm>
          <a:custGeom>
            <a:avLst/>
            <a:gdLst>
              <a:gd name="T0" fmla="*/ 272 w 362"/>
              <a:gd name="T1" fmla="*/ 0 h 261"/>
              <a:gd name="T2" fmla="*/ 0 w 362"/>
              <a:gd name="T3" fmla="*/ 0 h 261"/>
              <a:gd name="T4" fmla="*/ 90 w 362"/>
              <a:gd name="T5" fmla="*/ 130 h 261"/>
              <a:gd name="T6" fmla="*/ 0 w 362"/>
              <a:gd name="T7" fmla="*/ 261 h 261"/>
              <a:gd name="T8" fmla="*/ 272 w 362"/>
              <a:gd name="T9" fmla="*/ 261 h 261"/>
              <a:gd name="T10" fmla="*/ 362 w 362"/>
              <a:gd name="T11" fmla="*/ 130 h 261"/>
              <a:gd name="T12" fmla="*/ 272 w 362"/>
              <a:gd name="T13" fmla="*/ 0 h 26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62"/>
              <a:gd name="T22" fmla="*/ 0 h 261"/>
              <a:gd name="T23" fmla="*/ 362 w 362"/>
              <a:gd name="T24" fmla="*/ 261 h 26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62" h="261">
                <a:moveTo>
                  <a:pt x="272" y="0"/>
                </a:moveTo>
                <a:lnTo>
                  <a:pt x="0" y="0"/>
                </a:lnTo>
                <a:lnTo>
                  <a:pt x="90" y="130"/>
                </a:lnTo>
                <a:lnTo>
                  <a:pt x="0" y="261"/>
                </a:lnTo>
                <a:lnTo>
                  <a:pt x="272" y="261"/>
                </a:lnTo>
                <a:lnTo>
                  <a:pt x="362" y="130"/>
                </a:lnTo>
                <a:lnTo>
                  <a:pt x="272" y="0"/>
                </a:lnTo>
                <a:close/>
              </a:path>
            </a:pathLst>
          </a:custGeom>
          <a:noFill/>
          <a:ln w="635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393" name="Freeform 83"/>
          <p:cNvSpPr>
            <a:spLocks/>
          </p:cNvSpPr>
          <p:nvPr/>
        </p:nvSpPr>
        <p:spPr bwMode="auto">
          <a:xfrm>
            <a:off x="4812980" y="2228078"/>
            <a:ext cx="504404" cy="272755"/>
          </a:xfrm>
          <a:custGeom>
            <a:avLst/>
            <a:gdLst>
              <a:gd name="T0" fmla="*/ 272 w 362"/>
              <a:gd name="T1" fmla="*/ 0 h 261"/>
              <a:gd name="T2" fmla="*/ 0 w 362"/>
              <a:gd name="T3" fmla="*/ 0 h 261"/>
              <a:gd name="T4" fmla="*/ 91 w 362"/>
              <a:gd name="T5" fmla="*/ 130 h 261"/>
              <a:gd name="T6" fmla="*/ 0 w 362"/>
              <a:gd name="T7" fmla="*/ 261 h 261"/>
              <a:gd name="T8" fmla="*/ 272 w 362"/>
              <a:gd name="T9" fmla="*/ 261 h 261"/>
              <a:gd name="T10" fmla="*/ 362 w 362"/>
              <a:gd name="T11" fmla="*/ 130 h 261"/>
              <a:gd name="T12" fmla="*/ 272 w 362"/>
              <a:gd name="T13" fmla="*/ 0 h 26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62"/>
              <a:gd name="T22" fmla="*/ 0 h 261"/>
              <a:gd name="T23" fmla="*/ 362 w 362"/>
              <a:gd name="T24" fmla="*/ 261 h 26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62" h="261">
                <a:moveTo>
                  <a:pt x="272" y="0"/>
                </a:moveTo>
                <a:lnTo>
                  <a:pt x="0" y="0"/>
                </a:lnTo>
                <a:lnTo>
                  <a:pt x="91" y="130"/>
                </a:lnTo>
                <a:lnTo>
                  <a:pt x="0" y="261"/>
                </a:lnTo>
                <a:lnTo>
                  <a:pt x="272" y="261"/>
                </a:lnTo>
                <a:lnTo>
                  <a:pt x="362" y="130"/>
                </a:lnTo>
                <a:lnTo>
                  <a:pt x="272" y="0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6350" cap="rnd">
            <a:noFill/>
            <a:round/>
            <a:headEnd/>
            <a:tailEnd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394" name="Freeform 85"/>
          <p:cNvSpPr>
            <a:spLocks/>
          </p:cNvSpPr>
          <p:nvPr/>
        </p:nvSpPr>
        <p:spPr bwMode="auto">
          <a:xfrm>
            <a:off x="4333890" y="2228078"/>
            <a:ext cx="458423" cy="271709"/>
          </a:xfrm>
          <a:custGeom>
            <a:avLst/>
            <a:gdLst>
              <a:gd name="T0" fmla="*/ 82 w 329"/>
              <a:gd name="T1" fmla="*/ 0 h 260"/>
              <a:gd name="T2" fmla="*/ 0 w 329"/>
              <a:gd name="T3" fmla="*/ 130 h 260"/>
              <a:gd name="T4" fmla="*/ 82 w 329"/>
              <a:gd name="T5" fmla="*/ 260 h 260"/>
              <a:gd name="T6" fmla="*/ 247 w 329"/>
              <a:gd name="T7" fmla="*/ 260 h 260"/>
              <a:gd name="T8" fmla="*/ 329 w 329"/>
              <a:gd name="T9" fmla="*/ 130 h 260"/>
              <a:gd name="T10" fmla="*/ 247 w 329"/>
              <a:gd name="T11" fmla="*/ 0 h 260"/>
              <a:gd name="T12" fmla="*/ 82 w 329"/>
              <a:gd name="T13" fmla="*/ 0 h 26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29"/>
              <a:gd name="T22" fmla="*/ 0 h 260"/>
              <a:gd name="T23" fmla="*/ 329 w 329"/>
              <a:gd name="T24" fmla="*/ 260 h 26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29" h="260">
                <a:moveTo>
                  <a:pt x="82" y="0"/>
                </a:moveTo>
                <a:lnTo>
                  <a:pt x="0" y="130"/>
                </a:lnTo>
                <a:lnTo>
                  <a:pt x="82" y="260"/>
                </a:lnTo>
                <a:lnTo>
                  <a:pt x="247" y="260"/>
                </a:lnTo>
                <a:lnTo>
                  <a:pt x="329" y="130"/>
                </a:lnTo>
                <a:lnTo>
                  <a:pt x="247" y="0"/>
                </a:lnTo>
                <a:lnTo>
                  <a:pt x="82" y="0"/>
                </a:lnTo>
                <a:close/>
              </a:path>
            </a:pathLst>
          </a:custGeom>
          <a:solidFill>
            <a:srgbClr val="646464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395" name="Freeform 89"/>
          <p:cNvSpPr>
            <a:spLocks/>
          </p:cNvSpPr>
          <p:nvPr/>
        </p:nvSpPr>
        <p:spPr bwMode="auto">
          <a:xfrm>
            <a:off x="3331119" y="2228078"/>
            <a:ext cx="457029" cy="271709"/>
          </a:xfrm>
          <a:custGeom>
            <a:avLst/>
            <a:gdLst>
              <a:gd name="T0" fmla="*/ 82 w 328"/>
              <a:gd name="T1" fmla="*/ 0 h 260"/>
              <a:gd name="T2" fmla="*/ 0 w 328"/>
              <a:gd name="T3" fmla="*/ 130 h 260"/>
              <a:gd name="T4" fmla="*/ 82 w 328"/>
              <a:gd name="T5" fmla="*/ 260 h 260"/>
              <a:gd name="T6" fmla="*/ 246 w 328"/>
              <a:gd name="T7" fmla="*/ 260 h 260"/>
              <a:gd name="T8" fmla="*/ 328 w 328"/>
              <a:gd name="T9" fmla="*/ 130 h 260"/>
              <a:gd name="T10" fmla="*/ 246 w 328"/>
              <a:gd name="T11" fmla="*/ 0 h 260"/>
              <a:gd name="T12" fmla="*/ 82 w 328"/>
              <a:gd name="T13" fmla="*/ 0 h 26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28"/>
              <a:gd name="T22" fmla="*/ 0 h 260"/>
              <a:gd name="T23" fmla="*/ 328 w 328"/>
              <a:gd name="T24" fmla="*/ 260 h 26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28" h="260">
                <a:moveTo>
                  <a:pt x="82" y="0"/>
                </a:moveTo>
                <a:lnTo>
                  <a:pt x="0" y="130"/>
                </a:lnTo>
                <a:lnTo>
                  <a:pt x="82" y="260"/>
                </a:lnTo>
                <a:lnTo>
                  <a:pt x="246" y="260"/>
                </a:lnTo>
                <a:lnTo>
                  <a:pt x="328" y="130"/>
                </a:lnTo>
                <a:lnTo>
                  <a:pt x="246" y="0"/>
                </a:lnTo>
                <a:lnTo>
                  <a:pt x="82" y="0"/>
                </a:lnTo>
                <a:close/>
              </a:path>
            </a:pathLst>
          </a:custGeom>
          <a:noFill/>
          <a:ln w="635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396" name="Freeform 103"/>
          <p:cNvSpPr>
            <a:spLocks/>
          </p:cNvSpPr>
          <p:nvPr/>
        </p:nvSpPr>
        <p:spPr bwMode="auto">
          <a:xfrm>
            <a:off x="2807440" y="2223898"/>
            <a:ext cx="503011" cy="272755"/>
          </a:xfrm>
          <a:custGeom>
            <a:avLst/>
            <a:gdLst>
              <a:gd name="T0" fmla="*/ 271 w 361"/>
              <a:gd name="T1" fmla="*/ 0 h 261"/>
              <a:gd name="T2" fmla="*/ 0 w 361"/>
              <a:gd name="T3" fmla="*/ 0 h 261"/>
              <a:gd name="T4" fmla="*/ 91 w 361"/>
              <a:gd name="T5" fmla="*/ 131 h 261"/>
              <a:gd name="T6" fmla="*/ 0 w 361"/>
              <a:gd name="T7" fmla="*/ 261 h 261"/>
              <a:gd name="T8" fmla="*/ 271 w 361"/>
              <a:gd name="T9" fmla="*/ 261 h 261"/>
              <a:gd name="T10" fmla="*/ 361 w 361"/>
              <a:gd name="T11" fmla="*/ 131 h 261"/>
              <a:gd name="T12" fmla="*/ 271 w 361"/>
              <a:gd name="T13" fmla="*/ 0 h 26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61"/>
              <a:gd name="T22" fmla="*/ 0 h 261"/>
              <a:gd name="T23" fmla="*/ 361 w 361"/>
              <a:gd name="T24" fmla="*/ 261 h 26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61" h="261">
                <a:moveTo>
                  <a:pt x="271" y="0"/>
                </a:moveTo>
                <a:lnTo>
                  <a:pt x="0" y="0"/>
                </a:lnTo>
                <a:lnTo>
                  <a:pt x="91" y="131"/>
                </a:lnTo>
                <a:lnTo>
                  <a:pt x="0" y="261"/>
                </a:lnTo>
                <a:lnTo>
                  <a:pt x="271" y="261"/>
                </a:lnTo>
                <a:lnTo>
                  <a:pt x="361" y="131"/>
                </a:lnTo>
                <a:lnTo>
                  <a:pt x="271" y="0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6350" cap="rnd">
            <a:noFill/>
            <a:round/>
            <a:headEnd/>
            <a:tailEnd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397" name="Freeform 105"/>
          <p:cNvSpPr>
            <a:spLocks/>
          </p:cNvSpPr>
          <p:nvPr/>
        </p:nvSpPr>
        <p:spPr bwMode="auto">
          <a:xfrm>
            <a:off x="2329742" y="2224943"/>
            <a:ext cx="457029" cy="271709"/>
          </a:xfrm>
          <a:custGeom>
            <a:avLst/>
            <a:gdLst>
              <a:gd name="T0" fmla="*/ 82 w 328"/>
              <a:gd name="T1" fmla="*/ 0 h 260"/>
              <a:gd name="T2" fmla="*/ 0 w 328"/>
              <a:gd name="T3" fmla="*/ 130 h 260"/>
              <a:gd name="T4" fmla="*/ 82 w 328"/>
              <a:gd name="T5" fmla="*/ 260 h 260"/>
              <a:gd name="T6" fmla="*/ 246 w 328"/>
              <a:gd name="T7" fmla="*/ 260 h 260"/>
              <a:gd name="T8" fmla="*/ 328 w 328"/>
              <a:gd name="T9" fmla="*/ 130 h 260"/>
              <a:gd name="T10" fmla="*/ 246 w 328"/>
              <a:gd name="T11" fmla="*/ 0 h 260"/>
              <a:gd name="T12" fmla="*/ 82 w 328"/>
              <a:gd name="T13" fmla="*/ 0 h 26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28"/>
              <a:gd name="T22" fmla="*/ 0 h 260"/>
              <a:gd name="T23" fmla="*/ 328 w 328"/>
              <a:gd name="T24" fmla="*/ 260 h 26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28" h="260">
                <a:moveTo>
                  <a:pt x="82" y="0"/>
                </a:moveTo>
                <a:lnTo>
                  <a:pt x="0" y="130"/>
                </a:lnTo>
                <a:lnTo>
                  <a:pt x="82" y="260"/>
                </a:lnTo>
                <a:lnTo>
                  <a:pt x="246" y="260"/>
                </a:lnTo>
                <a:lnTo>
                  <a:pt x="328" y="130"/>
                </a:lnTo>
                <a:lnTo>
                  <a:pt x="246" y="0"/>
                </a:lnTo>
                <a:lnTo>
                  <a:pt x="82" y="0"/>
                </a:lnTo>
                <a:close/>
              </a:path>
            </a:pathLst>
          </a:custGeom>
          <a:solidFill>
            <a:srgbClr val="646464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398" name="Arredondar Retângulo de Canto Diagonal 5"/>
          <p:cNvSpPr/>
          <p:nvPr/>
        </p:nvSpPr>
        <p:spPr>
          <a:xfrm>
            <a:off x="6062069" y="2000251"/>
            <a:ext cx="1404000" cy="399410"/>
          </a:xfrm>
          <a:prstGeom prst="round2DiagRect">
            <a:avLst>
              <a:gd name="adj1" fmla="val 28780"/>
              <a:gd name="adj2" fmla="val 0"/>
            </a:avLst>
          </a:prstGeom>
          <a:solidFill>
            <a:schemeClr val="bg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j-lt"/>
              </a:rPr>
              <a:t>Продукт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j-lt"/>
              </a:rPr>
              <a:t>/ </a:t>
            </a:r>
            <a:r>
              <a:rPr kumimoji="0" lang="ru-RU" sz="18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j-lt"/>
              </a:rPr>
              <a:t>Услуга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404" name="Arredondar Retângulo de Canto Diagonal 5"/>
          <p:cNvSpPr/>
          <p:nvPr/>
        </p:nvSpPr>
        <p:spPr>
          <a:xfrm rot="16200000">
            <a:off x="462322" y="2582672"/>
            <a:ext cx="1502591" cy="337748"/>
          </a:xfrm>
          <a:prstGeom prst="round2DiagRect">
            <a:avLst>
              <a:gd name="adj1" fmla="val 28780"/>
              <a:gd name="adj2" fmla="val 0"/>
            </a:avLst>
          </a:prstGeom>
          <a:noFill/>
          <a:ln w="9525" cap="flat" cmpd="sng" algn="ctr">
            <a:solidFill>
              <a:schemeClr val="bg1">
                <a:lumMod val="65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r>
              <a:rPr lang="ru-RU" sz="1200" b="1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ПОСТАВЩИКИ</a:t>
            </a:r>
            <a:endParaRPr lang="en-US" sz="1200" b="1" kern="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sp>
        <p:nvSpPr>
          <p:cNvPr id="405" name="Arredondar Retângulo de Canto Diagonal 5"/>
          <p:cNvSpPr/>
          <p:nvPr/>
        </p:nvSpPr>
        <p:spPr>
          <a:xfrm rot="16200000">
            <a:off x="7110077" y="2368508"/>
            <a:ext cx="1651171" cy="617493"/>
          </a:xfrm>
          <a:prstGeom prst="round2DiagRect">
            <a:avLst>
              <a:gd name="adj1" fmla="val 28780"/>
              <a:gd name="adj2" fmla="val 0"/>
            </a:avLst>
          </a:prstGeom>
          <a:noFill/>
          <a:ln w="9525" cap="flat" cmpd="sng" algn="ctr">
            <a:solidFill>
              <a:schemeClr val="bg1">
                <a:lumMod val="65000"/>
              </a:schemeClr>
            </a:solidFill>
            <a:prstDash val="solid"/>
          </a:ln>
          <a:effectLst/>
        </p:spPr>
        <p:txBody>
          <a:bodyPr lIns="0" rIns="0" rtlCol="0" anchor="ctr"/>
          <a:lstStyle/>
          <a:p>
            <a:pPr algn="ctr" defTabSz="914400">
              <a:defRPr/>
            </a:pPr>
            <a:r>
              <a:rPr lang="ru-RU" sz="1400" b="1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ПОТРЕБИТЕЛИ</a:t>
            </a:r>
            <a:endParaRPr lang="en-US" sz="1400" b="1" kern="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sp>
        <p:nvSpPr>
          <p:cNvPr id="410" name="Rectangle 114"/>
          <p:cNvSpPr>
            <a:spLocks noChangeArrowheads="1"/>
          </p:cNvSpPr>
          <p:nvPr/>
        </p:nvSpPr>
        <p:spPr bwMode="auto">
          <a:xfrm>
            <a:off x="2476588" y="3154304"/>
            <a:ext cx="1947649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3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j-lt"/>
              </a:rPr>
              <a:t>Отображение процесса</a:t>
            </a:r>
            <a:endParaRPr kumimoji="0" lang="en-US" sz="13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411" name="Freeform 85"/>
          <p:cNvSpPr>
            <a:spLocks/>
          </p:cNvSpPr>
          <p:nvPr/>
        </p:nvSpPr>
        <p:spPr bwMode="auto">
          <a:xfrm>
            <a:off x="4791084" y="3383758"/>
            <a:ext cx="458423" cy="271709"/>
          </a:xfrm>
          <a:custGeom>
            <a:avLst/>
            <a:gdLst>
              <a:gd name="T0" fmla="*/ 82 w 329"/>
              <a:gd name="T1" fmla="*/ 0 h 260"/>
              <a:gd name="T2" fmla="*/ 0 w 329"/>
              <a:gd name="T3" fmla="*/ 130 h 260"/>
              <a:gd name="T4" fmla="*/ 82 w 329"/>
              <a:gd name="T5" fmla="*/ 260 h 260"/>
              <a:gd name="T6" fmla="*/ 247 w 329"/>
              <a:gd name="T7" fmla="*/ 260 h 260"/>
              <a:gd name="T8" fmla="*/ 329 w 329"/>
              <a:gd name="T9" fmla="*/ 130 h 260"/>
              <a:gd name="T10" fmla="*/ 247 w 329"/>
              <a:gd name="T11" fmla="*/ 0 h 260"/>
              <a:gd name="T12" fmla="*/ 82 w 329"/>
              <a:gd name="T13" fmla="*/ 0 h 26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29"/>
              <a:gd name="T22" fmla="*/ 0 h 260"/>
              <a:gd name="T23" fmla="*/ 329 w 329"/>
              <a:gd name="T24" fmla="*/ 260 h 26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29" h="260">
                <a:moveTo>
                  <a:pt x="82" y="0"/>
                </a:moveTo>
                <a:lnTo>
                  <a:pt x="0" y="130"/>
                </a:lnTo>
                <a:lnTo>
                  <a:pt x="82" y="260"/>
                </a:lnTo>
                <a:lnTo>
                  <a:pt x="247" y="260"/>
                </a:lnTo>
                <a:lnTo>
                  <a:pt x="329" y="130"/>
                </a:lnTo>
                <a:lnTo>
                  <a:pt x="247" y="0"/>
                </a:lnTo>
                <a:lnTo>
                  <a:pt x="82" y="0"/>
                </a:lnTo>
                <a:close/>
              </a:path>
            </a:pathLst>
          </a:custGeom>
          <a:solidFill>
            <a:srgbClr val="646464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412" name="Freeform 103"/>
          <p:cNvSpPr>
            <a:spLocks/>
          </p:cNvSpPr>
          <p:nvPr/>
        </p:nvSpPr>
        <p:spPr bwMode="auto">
          <a:xfrm>
            <a:off x="2370654" y="3379578"/>
            <a:ext cx="503011" cy="272755"/>
          </a:xfrm>
          <a:custGeom>
            <a:avLst/>
            <a:gdLst>
              <a:gd name="T0" fmla="*/ 271 w 361"/>
              <a:gd name="T1" fmla="*/ 0 h 261"/>
              <a:gd name="T2" fmla="*/ 0 w 361"/>
              <a:gd name="T3" fmla="*/ 0 h 261"/>
              <a:gd name="T4" fmla="*/ 91 w 361"/>
              <a:gd name="T5" fmla="*/ 131 h 261"/>
              <a:gd name="T6" fmla="*/ 0 w 361"/>
              <a:gd name="T7" fmla="*/ 261 h 261"/>
              <a:gd name="T8" fmla="*/ 271 w 361"/>
              <a:gd name="T9" fmla="*/ 261 h 261"/>
              <a:gd name="T10" fmla="*/ 361 w 361"/>
              <a:gd name="T11" fmla="*/ 131 h 261"/>
              <a:gd name="T12" fmla="*/ 271 w 361"/>
              <a:gd name="T13" fmla="*/ 0 h 26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61"/>
              <a:gd name="T22" fmla="*/ 0 h 261"/>
              <a:gd name="T23" fmla="*/ 361 w 361"/>
              <a:gd name="T24" fmla="*/ 261 h 26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61" h="261">
                <a:moveTo>
                  <a:pt x="271" y="0"/>
                </a:moveTo>
                <a:lnTo>
                  <a:pt x="0" y="0"/>
                </a:lnTo>
                <a:lnTo>
                  <a:pt x="91" y="131"/>
                </a:lnTo>
                <a:lnTo>
                  <a:pt x="0" y="261"/>
                </a:lnTo>
                <a:lnTo>
                  <a:pt x="271" y="261"/>
                </a:lnTo>
                <a:lnTo>
                  <a:pt x="361" y="131"/>
                </a:lnTo>
                <a:lnTo>
                  <a:pt x="271" y="0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6350" cap="rnd">
            <a:noFill/>
            <a:round/>
            <a:headEnd/>
            <a:tailEnd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413" name="Freeform 105"/>
          <p:cNvSpPr>
            <a:spLocks/>
          </p:cNvSpPr>
          <p:nvPr/>
        </p:nvSpPr>
        <p:spPr bwMode="auto">
          <a:xfrm>
            <a:off x="1923353" y="3380623"/>
            <a:ext cx="457029" cy="271709"/>
          </a:xfrm>
          <a:custGeom>
            <a:avLst/>
            <a:gdLst>
              <a:gd name="T0" fmla="*/ 82 w 328"/>
              <a:gd name="T1" fmla="*/ 0 h 260"/>
              <a:gd name="T2" fmla="*/ 0 w 328"/>
              <a:gd name="T3" fmla="*/ 130 h 260"/>
              <a:gd name="T4" fmla="*/ 82 w 328"/>
              <a:gd name="T5" fmla="*/ 260 h 260"/>
              <a:gd name="T6" fmla="*/ 246 w 328"/>
              <a:gd name="T7" fmla="*/ 260 h 260"/>
              <a:gd name="T8" fmla="*/ 328 w 328"/>
              <a:gd name="T9" fmla="*/ 130 h 260"/>
              <a:gd name="T10" fmla="*/ 246 w 328"/>
              <a:gd name="T11" fmla="*/ 0 h 260"/>
              <a:gd name="T12" fmla="*/ 82 w 328"/>
              <a:gd name="T13" fmla="*/ 0 h 26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28"/>
              <a:gd name="T22" fmla="*/ 0 h 260"/>
              <a:gd name="T23" fmla="*/ 328 w 328"/>
              <a:gd name="T24" fmla="*/ 260 h 26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28" h="260">
                <a:moveTo>
                  <a:pt x="82" y="0"/>
                </a:moveTo>
                <a:lnTo>
                  <a:pt x="0" y="130"/>
                </a:lnTo>
                <a:lnTo>
                  <a:pt x="82" y="260"/>
                </a:lnTo>
                <a:lnTo>
                  <a:pt x="246" y="260"/>
                </a:lnTo>
                <a:lnTo>
                  <a:pt x="328" y="130"/>
                </a:lnTo>
                <a:lnTo>
                  <a:pt x="246" y="0"/>
                </a:lnTo>
                <a:lnTo>
                  <a:pt x="82" y="0"/>
                </a:lnTo>
                <a:close/>
              </a:path>
            </a:pathLst>
          </a:custGeom>
          <a:solidFill>
            <a:srgbClr val="646464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414" name="Freeform 103"/>
          <p:cNvSpPr>
            <a:spLocks/>
          </p:cNvSpPr>
          <p:nvPr/>
        </p:nvSpPr>
        <p:spPr bwMode="auto">
          <a:xfrm>
            <a:off x="3311238" y="3379580"/>
            <a:ext cx="503011" cy="272755"/>
          </a:xfrm>
          <a:custGeom>
            <a:avLst/>
            <a:gdLst>
              <a:gd name="T0" fmla="*/ 271 w 361"/>
              <a:gd name="T1" fmla="*/ 0 h 261"/>
              <a:gd name="T2" fmla="*/ 0 w 361"/>
              <a:gd name="T3" fmla="*/ 0 h 261"/>
              <a:gd name="T4" fmla="*/ 91 w 361"/>
              <a:gd name="T5" fmla="*/ 131 h 261"/>
              <a:gd name="T6" fmla="*/ 0 w 361"/>
              <a:gd name="T7" fmla="*/ 261 h 261"/>
              <a:gd name="T8" fmla="*/ 271 w 361"/>
              <a:gd name="T9" fmla="*/ 261 h 261"/>
              <a:gd name="T10" fmla="*/ 361 w 361"/>
              <a:gd name="T11" fmla="*/ 131 h 261"/>
              <a:gd name="T12" fmla="*/ 271 w 361"/>
              <a:gd name="T13" fmla="*/ 0 h 26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61"/>
              <a:gd name="T22" fmla="*/ 0 h 261"/>
              <a:gd name="T23" fmla="*/ 361 w 361"/>
              <a:gd name="T24" fmla="*/ 261 h 26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61" h="261">
                <a:moveTo>
                  <a:pt x="271" y="0"/>
                </a:moveTo>
                <a:lnTo>
                  <a:pt x="0" y="0"/>
                </a:lnTo>
                <a:lnTo>
                  <a:pt x="91" y="131"/>
                </a:lnTo>
                <a:lnTo>
                  <a:pt x="0" y="261"/>
                </a:lnTo>
                <a:lnTo>
                  <a:pt x="271" y="261"/>
                </a:lnTo>
                <a:lnTo>
                  <a:pt x="361" y="131"/>
                </a:lnTo>
                <a:lnTo>
                  <a:pt x="271" y="0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6350" cap="rnd">
            <a:noFill/>
            <a:round/>
            <a:headEnd/>
            <a:tailEnd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415" name="Freeform 103"/>
          <p:cNvSpPr>
            <a:spLocks/>
          </p:cNvSpPr>
          <p:nvPr/>
        </p:nvSpPr>
        <p:spPr bwMode="auto">
          <a:xfrm>
            <a:off x="3804520" y="3379582"/>
            <a:ext cx="503011" cy="272755"/>
          </a:xfrm>
          <a:custGeom>
            <a:avLst/>
            <a:gdLst>
              <a:gd name="T0" fmla="*/ 271 w 361"/>
              <a:gd name="T1" fmla="*/ 0 h 261"/>
              <a:gd name="T2" fmla="*/ 0 w 361"/>
              <a:gd name="T3" fmla="*/ 0 h 261"/>
              <a:gd name="T4" fmla="*/ 91 w 361"/>
              <a:gd name="T5" fmla="*/ 131 h 261"/>
              <a:gd name="T6" fmla="*/ 0 w 361"/>
              <a:gd name="T7" fmla="*/ 261 h 261"/>
              <a:gd name="T8" fmla="*/ 271 w 361"/>
              <a:gd name="T9" fmla="*/ 261 h 261"/>
              <a:gd name="T10" fmla="*/ 361 w 361"/>
              <a:gd name="T11" fmla="*/ 131 h 261"/>
              <a:gd name="T12" fmla="*/ 271 w 361"/>
              <a:gd name="T13" fmla="*/ 0 h 26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61"/>
              <a:gd name="T22" fmla="*/ 0 h 261"/>
              <a:gd name="T23" fmla="*/ 361 w 361"/>
              <a:gd name="T24" fmla="*/ 261 h 26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61" h="261">
                <a:moveTo>
                  <a:pt x="271" y="0"/>
                </a:moveTo>
                <a:lnTo>
                  <a:pt x="0" y="0"/>
                </a:lnTo>
                <a:lnTo>
                  <a:pt x="91" y="131"/>
                </a:lnTo>
                <a:lnTo>
                  <a:pt x="0" y="261"/>
                </a:lnTo>
                <a:lnTo>
                  <a:pt x="271" y="261"/>
                </a:lnTo>
                <a:lnTo>
                  <a:pt x="361" y="131"/>
                </a:lnTo>
                <a:lnTo>
                  <a:pt x="271" y="0"/>
                </a:lnTo>
                <a:close/>
              </a:path>
            </a:pathLst>
          </a:custGeom>
          <a:solidFill>
            <a:srgbClr val="C00000"/>
          </a:solidFill>
          <a:ln w="6350" cap="rnd">
            <a:noFill/>
            <a:round/>
            <a:headEnd/>
            <a:tailEnd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416" name="Freeform 103"/>
          <p:cNvSpPr>
            <a:spLocks/>
          </p:cNvSpPr>
          <p:nvPr/>
        </p:nvSpPr>
        <p:spPr bwMode="auto">
          <a:xfrm>
            <a:off x="4297803" y="3379584"/>
            <a:ext cx="503011" cy="272755"/>
          </a:xfrm>
          <a:custGeom>
            <a:avLst/>
            <a:gdLst>
              <a:gd name="T0" fmla="*/ 271 w 361"/>
              <a:gd name="T1" fmla="*/ 0 h 261"/>
              <a:gd name="T2" fmla="*/ 0 w 361"/>
              <a:gd name="T3" fmla="*/ 0 h 261"/>
              <a:gd name="T4" fmla="*/ 91 w 361"/>
              <a:gd name="T5" fmla="*/ 131 h 261"/>
              <a:gd name="T6" fmla="*/ 0 w 361"/>
              <a:gd name="T7" fmla="*/ 261 h 261"/>
              <a:gd name="T8" fmla="*/ 271 w 361"/>
              <a:gd name="T9" fmla="*/ 261 h 261"/>
              <a:gd name="T10" fmla="*/ 361 w 361"/>
              <a:gd name="T11" fmla="*/ 131 h 261"/>
              <a:gd name="T12" fmla="*/ 271 w 361"/>
              <a:gd name="T13" fmla="*/ 0 h 26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61"/>
              <a:gd name="T22" fmla="*/ 0 h 261"/>
              <a:gd name="T23" fmla="*/ 361 w 361"/>
              <a:gd name="T24" fmla="*/ 261 h 26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61" h="261">
                <a:moveTo>
                  <a:pt x="271" y="0"/>
                </a:moveTo>
                <a:lnTo>
                  <a:pt x="0" y="0"/>
                </a:lnTo>
                <a:lnTo>
                  <a:pt x="91" y="131"/>
                </a:lnTo>
                <a:lnTo>
                  <a:pt x="0" y="261"/>
                </a:lnTo>
                <a:lnTo>
                  <a:pt x="271" y="261"/>
                </a:lnTo>
                <a:lnTo>
                  <a:pt x="361" y="131"/>
                </a:lnTo>
                <a:lnTo>
                  <a:pt x="271" y="0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6350" cap="rnd">
            <a:noFill/>
            <a:round/>
            <a:headEnd/>
            <a:tailEnd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417" name="Freeform 89"/>
          <p:cNvSpPr>
            <a:spLocks/>
          </p:cNvSpPr>
          <p:nvPr/>
        </p:nvSpPr>
        <p:spPr bwMode="auto">
          <a:xfrm>
            <a:off x="2863937" y="3366988"/>
            <a:ext cx="457029" cy="271709"/>
          </a:xfrm>
          <a:custGeom>
            <a:avLst/>
            <a:gdLst>
              <a:gd name="T0" fmla="*/ 82 w 328"/>
              <a:gd name="T1" fmla="*/ 0 h 260"/>
              <a:gd name="T2" fmla="*/ 0 w 328"/>
              <a:gd name="T3" fmla="*/ 130 h 260"/>
              <a:gd name="T4" fmla="*/ 82 w 328"/>
              <a:gd name="T5" fmla="*/ 260 h 260"/>
              <a:gd name="T6" fmla="*/ 246 w 328"/>
              <a:gd name="T7" fmla="*/ 260 h 260"/>
              <a:gd name="T8" fmla="*/ 328 w 328"/>
              <a:gd name="T9" fmla="*/ 130 h 260"/>
              <a:gd name="T10" fmla="*/ 246 w 328"/>
              <a:gd name="T11" fmla="*/ 0 h 260"/>
              <a:gd name="T12" fmla="*/ 82 w 328"/>
              <a:gd name="T13" fmla="*/ 0 h 26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28"/>
              <a:gd name="T22" fmla="*/ 0 h 260"/>
              <a:gd name="T23" fmla="*/ 328 w 328"/>
              <a:gd name="T24" fmla="*/ 260 h 26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28" h="260">
                <a:moveTo>
                  <a:pt x="82" y="0"/>
                </a:moveTo>
                <a:lnTo>
                  <a:pt x="0" y="130"/>
                </a:lnTo>
                <a:lnTo>
                  <a:pt x="82" y="260"/>
                </a:lnTo>
                <a:lnTo>
                  <a:pt x="246" y="260"/>
                </a:lnTo>
                <a:lnTo>
                  <a:pt x="328" y="130"/>
                </a:lnTo>
                <a:lnTo>
                  <a:pt x="246" y="0"/>
                </a:lnTo>
                <a:lnTo>
                  <a:pt x="82" y="0"/>
                </a:lnTo>
                <a:close/>
              </a:path>
            </a:pathLst>
          </a:custGeom>
          <a:noFill/>
          <a:ln w="635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j-lt"/>
            </a:endParaRPr>
          </a:p>
        </p:txBody>
      </p:sp>
      <p:cxnSp>
        <p:nvCxnSpPr>
          <p:cNvPr id="419" name="Straight Connector 418"/>
          <p:cNvCxnSpPr>
            <a:stCxn id="397" idx="2"/>
            <a:endCxn id="413" idx="0"/>
          </p:cNvCxnSpPr>
          <p:nvPr/>
        </p:nvCxnSpPr>
        <p:spPr>
          <a:xfrm flipH="1">
            <a:off x="2037610" y="2496652"/>
            <a:ext cx="406389" cy="88397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4" name="Straight Connector 423"/>
          <p:cNvCxnSpPr>
            <a:stCxn id="394" idx="3"/>
            <a:endCxn id="411" idx="5"/>
          </p:cNvCxnSpPr>
          <p:nvPr/>
        </p:nvCxnSpPr>
        <p:spPr>
          <a:xfrm>
            <a:off x="4678055" y="2499787"/>
            <a:ext cx="457194" cy="88397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8" name="Arredondar Retângulo de Canto Diagonal 5"/>
          <p:cNvSpPr/>
          <p:nvPr/>
        </p:nvSpPr>
        <p:spPr>
          <a:xfrm>
            <a:off x="3757802" y="4124461"/>
            <a:ext cx="540000" cy="253311"/>
          </a:xfrm>
          <a:prstGeom prst="round2DiagRect">
            <a:avLst>
              <a:gd name="adj1" fmla="val 28780"/>
              <a:gd name="adj2" fmla="val 0"/>
            </a:avLst>
          </a:prstGeom>
          <a:solidFill>
            <a:srgbClr val="C00000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kern="0" dirty="0">
                <a:solidFill>
                  <a:srgbClr val="FFFFFF"/>
                </a:solidFill>
                <a:latin typeface="+mj-lt"/>
              </a:rPr>
              <a:t>PI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429" name="Arredondar Retângulo de Canto Diagonal 5"/>
          <p:cNvSpPr/>
          <p:nvPr/>
        </p:nvSpPr>
        <p:spPr>
          <a:xfrm>
            <a:off x="6537053" y="3595473"/>
            <a:ext cx="648000" cy="253311"/>
          </a:xfrm>
          <a:prstGeom prst="round2DiagRect">
            <a:avLst>
              <a:gd name="adj1" fmla="val 28780"/>
              <a:gd name="adj2" fmla="val 0"/>
            </a:avLst>
          </a:prstGeom>
          <a:solidFill>
            <a:srgbClr val="C00000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r>
              <a:rPr lang="en-US" b="1" kern="0" dirty="0">
                <a:solidFill>
                  <a:srgbClr val="FFFFFF"/>
                </a:solidFill>
                <a:latin typeface="+mj-lt"/>
              </a:rPr>
              <a:t>KPI</a:t>
            </a:r>
          </a:p>
        </p:txBody>
      </p:sp>
      <p:cxnSp>
        <p:nvCxnSpPr>
          <p:cNvPr id="430" name="Conector de seta reta 23"/>
          <p:cNvCxnSpPr>
            <a:stCxn id="428" idx="3"/>
          </p:cNvCxnSpPr>
          <p:nvPr/>
        </p:nvCxnSpPr>
        <p:spPr bwMode="auto">
          <a:xfrm flipV="1">
            <a:off x="4027802" y="3638697"/>
            <a:ext cx="0" cy="485764"/>
          </a:xfrm>
          <a:prstGeom prst="straightConnector1">
            <a:avLst/>
          </a:prstGeom>
          <a:ln w="38100">
            <a:solidFill>
              <a:srgbClr val="C00000"/>
            </a:solidFill>
            <a:prstDash val="solid"/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3" name="Conector de seta reta 23"/>
          <p:cNvCxnSpPr>
            <a:stCxn id="429" idx="3"/>
          </p:cNvCxnSpPr>
          <p:nvPr/>
        </p:nvCxnSpPr>
        <p:spPr bwMode="auto">
          <a:xfrm flipV="1">
            <a:off x="6861053" y="2984161"/>
            <a:ext cx="0" cy="611312"/>
          </a:xfrm>
          <a:prstGeom prst="straightConnector1">
            <a:avLst/>
          </a:prstGeom>
          <a:ln w="38100">
            <a:solidFill>
              <a:srgbClr val="C00000"/>
            </a:solidFill>
            <a:prstDash val="solid"/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itle 1"/>
          <p:cNvSpPr txBox="1">
            <a:spLocks/>
          </p:cNvSpPr>
          <p:nvPr/>
        </p:nvSpPr>
        <p:spPr>
          <a:xfrm>
            <a:off x="699770" y="58440"/>
            <a:ext cx="7886700" cy="497086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defPPr>
              <a:defRPr lang="ru-RU"/>
            </a:defPPr>
            <a:lvl1pPr algn="ctr">
              <a:spcBef>
                <a:spcPct val="0"/>
              </a:spcBef>
              <a:buNone/>
              <a:defRPr sz="3200" b="1">
                <a:solidFill>
                  <a:srgbClr val="C3002F"/>
                </a:solidFill>
                <a:latin typeface="AB InBev Headlines" pitchFamily="50" charset="0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34" name="Titel 3"/>
          <p:cNvSpPr>
            <a:spLocks noGrp="1"/>
          </p:cNvSpPr>
          <p:nvPr>
            <p:ph type="title"/>
          </p:nvPr>
        </p:nvSpPr>
        <p:spPr>
          <a:xfrm>
            <a:off x="251520" y="123478"/>
            <a:ext cx="7971511" cy="327025"/>
          </a:xfrm>
        </p:spPr>
        <p:txBody>
          <a:bodyPr>
            <a:normAutofit fontScale="90000"/>
          </a:bodyPr>
          <a:lstStyle/>
          <a:p>
            <a:r>
              <a:rPr lang="ru-RU" sz="2400" dirty="0"/>
              <a:t>КОНТРОЛЬ ПРОЦЕССА</a:t>
            </a:r>
          </a:p>
        </p:txBody>
      </p:sp>
    </p:spTree>
    <p:extLst>
      <p:ext uri="{BB962C8B-B14F-4D97-AF65-F5344CB8AC3E}">
        <p14:creationId xmlns:p14="http://schemas.microsoft.com/office/powerpoint/2010/main" val="3796661054"/>
      </p:ext>
    </p:extLst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">
            <a:extLst>
              <a:ext uri="{FF2B5EF4-FFF2-40B4-BE49-F238E27FC236}">
                <a16:creationId xmlns:a16="http://schemas.microsoft.com/office/drawing/2014/main" id="{FED43E97-5E0E-485B-8605-A020F0389B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l="6667" t="31804" r="36111" b="13043"/>
          <a:stretch>
            <a:fillRect/>
          </a:stretch>
        </p:blipFill>
        <p:spPr bwMode="auto">
          <a:xfrm>
            <a:off x="-30706" y="879325"/>
            <a:ext cx="9174706" cy="38210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" name="Group 3"/>
          <p:cNvGrpSpPr/>
          <p:nvPr/>
        </p:nvGrpSpPr>
        <p:grpSpPr>
          <a:xfrm>
            <a:off x="4014017" y="289732"/>
            <a:ext cx="5794842" cy="4383170"/>
            <a:chOff x="3679743" y="-125267"/>
            <a:chExt cx="6344775" cy="5073282"/>
          </a:xfrm>
        </p:grpSpPr>
        <p:pic>
          <p:nvPicPr>
            <p:cNvPr id="10" name="Picture 3" descr="C:\Users\malogopo\Desktop\1323.png"/>
            <p:cNvPicPr>
              <a:picLocks noChangeAspect="1" noChangeArrowheads="1"/>
            </p:cNvPicPr>
            <p:nvPr/>
          </p:nvPicPr>
          <p:blipFill rotWithShape="1">
            <a:blip r:embed="rId3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3125" b="96250" l="10000" r="90000">
                          <a14:backgroundMark x1="41875" y1="59062" x2="41875" y2="59062"/>
                          <a14:backgroundMark x1="58438" y1="58281" x2="58438" y2="58281"/>
                        </a14:backgroundRemoval>
                      </a14:imgEffect>
                      <a14:imgEffect>
                        <a14:colorTemperature colorTemp="11200"/>
                      </a14:imgEffect>
                      <a14:imgEffect>
                        <a14:saturation sat="400000"/>
                      </a14:imgEffect>
                      <a14:imgEffect>
                        <a14:brightnessContrast bright="2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0757"/>
            <a:stretch/>
          </p:blipFill>
          <p:spPr bwMode="auto">
            <a:xfrm>
              <a:off x="3679743" y="-125267"/>
              <a:ext cx="6344775" cy="50732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5" descr="C:\Users\malogopo\Desktop\Picture9.png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15346" y="408017"/>
              <a:ext cx="1046602" cy="4355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2" name="Oval Callout 5">
            <a:extLst>
              <a:ext uri="{FF2B5EF4-FFF2-40B4-BE49-F238E27FC236}">
                <a16:creationId xmlns:a16="http://schemas.microsoft.com/office/drawing/2014/main" id="{E938FBCF-1003-4179-864D-EA1C1C81231C}"/>
              </a:ext>
            </a:extLst>
          </p:cNvPr>
          <p:cNvSpPr/>
          <p:nvPr/>
        </p:nvSpPr>
        <p:spPr>
          <a:xfrm>
            <a:off x="395536" y="771550"/>
            <a:ext cx="4820372" cy="2160240"/>
          </a:xfrm>
          <a:prstGeom prst="wedgeEllipseCallout">
            <a:avLst>
              <a:gd name="adj1" fmla="val 63717"/>
              <a:gd name="adj2" fmla="val 14012"/>
            </a:avLst>
          </a:prstGeom>
          <a:solidFill>
            <a:srgbClr val="EEECE2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>
              <a:solidFill>
                <a:prstClr val="white"/>
              </a:solidFill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1095459" y="869687"/>
            <a:ext cx="357794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2813" fontAlgn="base">
              <a:spcBef>
                <a:spcPct val="0"/>
              </a:spcBef>
              <a:spcAft>
                <a:spcPct val="0"/>
              </a:spcAft>
              <a:buSzPct val="90000"/>
              <a:defRPr/>
            </a:pPr>
            <a:r>
              <a:rPr lang="ru-RU" sz="1400" dirty="0">
                <a:solidFill>
                  <a:prstClr val="black">
                    <a:lumMod val="65000"/>
                    <a:lumOff val="35000"/>
                  </a:prstClr>
                </a:solidFill>
              </a:rPr>
              <a:t>Для отслеживания и мониторинга производительности процесса я использую </a:t>
            </a:r>
            <a:r>
              <a:rPr lang="ru-RU" sz="14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диаграмму контроля в коротких интервалах</a:t>
            </a:r>
            <a:r>
              <a:rPr lang="en-US" sz="14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 (SIC)</a:t>
            </a:r>
            <a:r>
              <a:rPr lang="ru-RU" sz="1400" dirty="0">
                <a:solidFill>
                  <a:prstClr val="black">
                    <a:lumMod val="65000"/>
                    <a:lumOff val="35000"/>
                  </a:prstClr>
                </a:solidFill>
              </a:rPr>
              <a:t>.</a:t>
            </a:r>
          </a:p>
          <a:p>
            <a:pPr algn="ctr" defTabSz="912813" fontAlgn="base">
              <a:spcBef>
                <a:spcPct val="0"/>
              </a:spcBef>
              <a:spcAft>
                <a:spcPct val="0"/>
              </a:spcAft>
              <a:buSzPct val="90000"/>
              <a:defRPr/>
            </a:pPr>
            <a:r>
              <a:rPr lang="ru-RU" sz="1400" dirty="0">
                <a:solidFill>
                  <a:prstClr val="black">
                    <a:lumMod val="65000"/>
                    <a:lumOff val="35000"/>
                  </a:prstClr>
                </a:solidFill>
              </a:rPr>
              <a:t>Диаграмма </a:t>
            </a:r>
            <a:r>
              <a:rPr lang="en-US" sz="1400" dirty="0">
                <a:solidFill>
                  <a:prstClr val="black">
                    <a:lumMod val="65000"/>
                    <a:lumOff val="35000"/>
                  </a:prstClr>
                </a:solidFill>
              </a:rPr>
              <a:t>SIC </a:t>
            </a:r>
            <a:r>
              <a:rPr lang="ru-RU" sz="1400" dirty="0">
                <a:solidFill>
                  <a:prstClr val="black">
                    <a:lumMod val="65000"/>
                    <a:lumOff val="35000"/>
                  </a:prstClr>
                </a:solidFill>
              </a:rPr>
              <a:t>используется для отслеживания PI (</a:t>
            </a:r>
            <a:r>
              <a:rPr lang="en-US" sz="1400" dirty="0">
                <a:solidFill>
                  <a:prstClr val="black">
                    <a:lumMod val="65000"/>
                    <a:lumOff val="35000"/>
                  </a:prstClr>
                </a:solidFill>
              </a:rPr>
              <a:t>process indicator </a:t>
            </a:r>
            <a:r>
              <a:rPr lang="ru-RU" sz="1400" dirty="0">
                <a:solidFill>
                  <a:prstClr val="black">
                    <a:lumMod val="65000"/>
                    <a:lumOff val="35000"/>
                  </a:prstClr>
                </a:solidFill>
              </a:rPr>
              <a:t> - индикатор процесса) в кратчайшие возможные интервалы времени за определенный период.</a:t>
            </a:r>
            <a:endParaRPr lang="en-US" sz="1400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4327441-C9EA-4CE9-BD49-330577273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300509"/>
            <a:ext cx="8451850" cy="327025"/>
          </a:xfrm>
        </p:spPr>
        <p:txBody>
          <a:bodyPr>
            <a:noAutofit/>
          </a:bodyPr>
          <a:lstStyle/>
          <a:p>
            <a:r>
              <a:rPr lang="ru-RU" dirty="0">
                <a:cs typeface="Arial"/>
              </a:rPr>
              <a:t>ОТСЛЕЖИВАНИЯ </a:t>
            </a:r>
            <a:r>
              <a:rPr lang="en-US" dirty="0">
                <a:cs typeface="Arial"/>
              </a:rPr>
              <a:t>PI </a:t>
            </a:r>
            <a:r>
              <a:rPr lang="ru-RU" dirty="0">
                <a:cs typeface="Arial"/>
              </a:rPr>
              <a:t>ЧЕРЕЗ </a:t>
            </a:r>
            <a:r>
              <a:rPr lang="en-US" dirty="0">
                <a:cs typeface="Arial"/>
              </a:rPr>
              <a:t>SIC </a:t>
            </a:r>
            <a:br>
              <a:rPr lang="en-US" dirty="0">
                <a:cs typeface="Arial"/>
              </a:rPr>
            </a:br>
            <a:r>
              <a:rPr lang="en-US" dirty="0">
                <a:cs typeface="Arial"/>
              </a:rPr>
              <a:t>(</a:t>
            </a:r>
            <a:r>
              <a:rPr lang="ru-RU" dirty="0">
                <a:cs typeface="Arial"/>
              </a:rPr>
              <a:t>КОНТРОЛЬ В КОРОТКИХ ИНТЕРВАЛАХ</a:t>
            </a:r>
            <a:r>
              <a:rPr lang="en-US" dirty="0">
                <a:cs typeface="Arial"/>
              </a:rPr>
              <a:t>)</a:t>
            </a:r>
            <a:endParaRPr lang="en-US" b="0" dirty="0">
              <a:ea typeface="+mj-lt"/>
              <a:cs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292191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AD292B4-02F1-496E-B092-3A74D5B330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546" y="1022837"/>
            <a:ext cx="6545926" cy="3416320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B0B94AD-5182-418D-B5C9-646D62E1E534}"/>
              </a:ext>
            </a:extLst>
          </p:cNvPr>
          <p:cNvSpPr txBox="1">
            <a:spLocks/>
          </p:cNvSpPr>
          <p:nvPr/>
        </p:nvSpPr>
        <p:spPr>
          <a:xfrm>
            <a:off x="2555776" y="2515000"/>
            <a:ext cx="3096344" cy="400050"/>
          </a:xfrm>
          <a:prstGeom prst="rect">
            <a:avLst/>
          </a:prstGeom>
          <a:solidFill>
            <a:schemeClr val="bg1"/>
          </a:solidFill>
          <a:ln w="12700">
            <a:solidFill>
              <a:srgbClr val="002060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/>
              <a:buNone/>
              <a:defRPr sz="2400" b="0" kern="1200">
                <a:solidFill>
                  <a:srgbClr val="000000"/>
                </a:solidFill>
                <a:latin typeface="Franklin Gothic Book"/>
                <a:ea typeface="+mn-ea"/>
                <a:cs typeface="Franklin Gothic Book"/>
              </a:defRPr>
            </a:lvl1pPr>
            <a:lvl2pPr marL="230188" indent="-230188" algn="l" defTabSz="4572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/>
              <a:buChar char="•"/>
              <a:defRPr sz="2400" b="0" kern="1200">
                <a:solidFill>
                  <a:srgbClr val="000000"/>
                </a:solidFill>
                <a:latin typeface="Franklin Gothic Book"/>
                <a:ea typeface="+mn-ea"/>
                <a:cs typeface="Franklin Gothic Book"/>
              </a:defRPr>
            </a:lvl2pPr>
            <a:lvl3pPr marL="460375" indent="-228600" algn="l" defTabSz="4572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/>
              <a:buChar char="•"/>
              <a:defRPr sz="2400" b="0" kern="1200">
                <a:solidFill>
                  <a:srgbClr val="000000"/>
                </a:solidFill>
                <a:latin typeface="Franklin Gothic Book"/>
                <a:ea typeface="+mn-ea"/>
                <a:cs typeface="Franklin Gothic Book"/>
              </a:defRPr>
            </a:lvl3pPr>
            <a:lvl4pPr marL="688975" indent="-228600" algn="l" defTabSz="4572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/>
              <a:buChar char="•"/>
              <a:tabLst/>
              <a:defRPr sz="2400" b="0" kern="1200">
                <a:solidFill>
                  <a:srgbClr val="000000"/>
                </a:solidFill>
                <a:latin typeface="Franklin Gothic Book"/>
                <a:ea typeface="+mn-ea"/>
                <a:cs typeface="Franklin Gothic Book"/>
              </a:defRPr>
            </a:lvl4pPr>
            <a:lvl5pPr marL="917575" indent="-228600" algn="l" defTabSz="4572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/>
              <a:buChar char="•"/>
              <a:defRPr sz="2400" b="0" kern="1200">
                <a:solidFill>
                  <a:srgbClr val="000000"/>
                </a:solidFill>
                <a:latin typeface="Franklin Gothic Book"/>
                <a:ea typeface="+mn-ea"/>
                <a:cs typeface="Franklin Gothic Book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ct val="0"/>
              </a:spcAft>
              <a:buClr>
                <a:srgbClr val="C0504D"/>
              </a:buClr>
            </a:pPr>
            <a:r>
              <a:rPr lang="ru-RU" sz="11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libri"/>
                <a:cs typeface="+mn-cs"/>
              </a:rPr>
              <a:t>Желтый интервал место проведения быстрых корректировок</a:t>
            </a:r>
            <a:r>
              <a:rPr lang="en-US" sz="11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libri"/>
                <a:cs typeface="+mn-cs"/>
              </a:rPr>
              <a:t>.</a:t>
            </a:r>
          </a:p>
        </p:txBody>
      </p:sp>
      <p:sp>
        <p:nvSpPr>
          <p:cNvPr id="15" name="Text Box 6"/>
          <p:cNvSpPr txBox="1">
            <a:spLocks noChangeArrowheads="1"/>
          </p:cNvSpPr>
          <p:nvPr/>
        </p:nvSpPr>
        <p:spPr bwMode="auto">
          <a:xfrm>
            <a:off x="7092280" y="1068288"/>
            <a:ext cx="1827312" cy="32316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ru-RU"/>
            </a:defPPr>
            <a:lvl1pPr algn="ctr">
              <a:defRPr sz="1200"/>
            </a:lvl1pPr>
          </a:lstStyle>
          <a:p>
            <a:pPr algn="just"/>
            <a:r>
              <a:rPr lang="en-CA" altLang="ru-RU" dirty="0"/>
              <a:t>SIC </a:t>
            </a:r>
            <a:r>
              <a:rPr lang="ru-RU" altLang="ru-RU" dirty="0"/>
              <a:t>используется для отслеживания краткосрочных изменений в процессах.</a:t>
            </a:r>
          </a:p>
          <a:p>
            <a:pPr algn="just"/>
            <a:r>
              <a:rPr lang="ru-RU" altLang="ru-RU" dirty="0"/>
              <a:t>Он служит инструментом передачи производительности процессов в течении командных изменений.</a:t>
            </a:r>
            <a:endParaRPr lang="en-CA" altLang="ru-RU" dirty="0"/>
          </a:p>
          <a:p>
            <a:pPr algn="just"/>
            <a:r>
              <a:rPr lang="ru-RU" altLang="ru-RU" dirty="0"/>
              <a:t>Этот инструмент позволяет внести немедленные изменения до выхода процесса из под контроля.</a:t>
            </a:r>
            <a:endParaRPr lang="en-CA" altLang="ru-RU" dirty="0"/>
          </a:p>
        </p:txBody>
      </p:sp>
      <p:sp>
        <p:nvSpPr>
          <p:cNvPr id="7" name="Titel 3"/>
          <p:cNvSpPr txBox="1">
            <a:spLocks/>
          </p:cNvSpPr>
          <p:nvPr/>
        </p:nvSpPr>
        <p:spPr>
          <a:xfrm>
            <a:off x="274067" y="304985"/>
            <a:ext cx="8042349" cy="3270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ОТСЛЕЖИВАНИЕ PI ЧЕРЕЗ SIC</a:t>
            </a:r>
          </a:p>
          <a:p>
            <a:r>
              <a:rPr lang="ru-RU" dirty="0"/>
              <a:t>(КОРОТКИЙ ИНТЕРВАЛ КОНТРОЛЯ)</a:t>
            </a:r>
          </a:p>
        </p:txBody>
      </p:sp>
    </p:spTree>
    <p:extLst>
      <p:ext uri="{BB962C8B-B14F-4D97-AF65-F5344CB8AC3E}">
        <p14:creationId xmlns:p14="http://schemas.microsoft.com/office/powerpoint/2010/main" val="104909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o 4"/>
          <p:cNvGrpSpPr/>
          <p:nvPr/>
        </p:nvGrpSpPr>
        <p:grpSpPr>
          <a:xfrm>
            <a:off x="105869" y="590055"/>
            <a:ext cx="6955708" cy="4158378"/>
            <a:chOff x="105869" y="590055"/>
            <a:chExt cx="6955708" cy="4158378"/>
          </a:xfrm>
        </p:grpSpPr>
        <p:grpSp>
          <p:nvGrpSpPr>
            <p:cNvPr id="6" name="Grupo 5"/>
            <p:cNvGrpSpPr/>
            <p:nvPr/>
          </p:nvGrpSpPr>
          <p:grpSpPr>
            <a:xfrm>
              <a:off x="105869" y="590055"/>
              <a:ext cx="6955708" cy="4158378"/>
              <a:chOff x="64564" y="555526"/>
              <a:chExt cx="6955708" cy="4158378"/>
            </a:xfrm>
          </p:grpSpPr>
          <p:pic>
            <p:nvPicPr>
              <p:cNvPr id="41988" name="Picture 4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4564" y="555526"/>
                <a:ext cx="6955708" cy="415837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cxnSp>
            <p:nvCxnSpPr>
              <p:cNvPr id="15" name="Straight Connector 14"/>
              <p:cNvCxnSpPr/>
              <p:nvPr/>
            </p:nvCxnSpPr>
            <p:spPr>
              <a:xfrm>
                <a:off x="723610" y="1688675"/>
                <a:ext cx="824054" cy="162995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>
              <a:xfrm>
                <a:off x="1536055" y="1851670"/>
                <a:ext cx="587673" cy="36004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/>
              <p:cNvCxnSpPr/>
              <p:nvPr/>
            </p:nvCxnSpPr>
            <p:spPr>
              <a:xfrm flipV="1">
                <a:off x="2105970" y="1635646"/>
                <a:ext cx="665830" cy="576449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pic>
          <p:nvPicPr>
            <p:cNvPr id="3" name="Imagen 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48064" y="2715766"/>
              <a:ext cx="1872208" cy="864096"/>
            </a:xfrm>
            <a:prstGeom prst="rect">
              <a:avLst/>
            </a:prstGeom>
          </p:spPr>
        </p:pic>
      </p:grpSp>
      <p:grpSp>
        <p:nvGrpSpPr>
          <p:cNvPr id="4" name="Group 3"/>
          <p:cNvGrpSpPr/>
          <p:nvPr/>
        </p:nvGrpSpPr>
        <p:grpSpPr>
          <a:xfrm>
            <a:off x="4788024" y="-137040"/>
            <a:ext cx="6060734" cy="4768807"/>
            <a:chOff x="3579872" y="-144551"/>
            <a:chExt cx="6552728" cy="5073282"/>
          </a:xfrm>
        </p:grpSpPr>
        <p:pic>
          <p:nvPicPr>
            <p:cNvPr id="10" name="Picture 3" descr="C:\Users\malogopo\Desktop\1323.png"/>
            <p:cNvPicPr>
              <a:picLocks noChangeAspect="1" noChangeArrowheads="1"/>
            </p:cNvPicPr>
            <p:nvPr/>
          </p:nvPicPr>
          <p:blipFill rotWithShape="1">
            <a:blip r:embed="rId5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3125" b="96250" l="10000" r="90000">
                          <a14:backgroundMark x1="41875" y1="59062" x2="41875" y2="59062"/>
                          <a14:backgroundMark x1="58438" y1="58281" x2="58438" y2="58281"/>
                        </a14:backgroundRemoval>
                      </a14:imgEffect>
                      <a14:imgEffect>
                        <a14:colorTemperature colorTemp="11200"/>
                      </a14:imgEffect>
                      <a14:imgEffect>
                        <a14:saturation sat="400000"/>
                      </a14:imgEffect>
                      <a14:imgEffect>
                        <a14:brightnessContrast bright="2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0757"/>
            <a:stretch/>
          </p:blipFill>
          <p:spPr bwMode="auto">
            <a:xfrm>
              <a:off x="3579872" y="-144551"/>
              <a:ext cx="6552728" cy="50732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5" descr="C:\Users\malogopo\Desktop\Picture9.png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15475" y="388733"/>
              <a:ext cx="1046602" cy="4355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1989" name="Picture 5" descr="C:\Users\malogopo\Desktop\5a214d43d8a7a1601215d12f.pn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1059582"/>
            <a:ext cx="2146215" cy="1609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upo 1"/>
          <p:cNvGrpSpPr/>
          <p:nvPr/>
        </p:nvGrpSpPr>
        <p:grpSpPr>
          <a:xfrm>
            <a:off x="3060460" y="663888"/>
            <a:ext cx="3821554" cy="1763846"/>
            <a:chOff x="3120137" y="-59828"/>
            <a:chExt cx="4054031" cy="1838482"/>
          </a:xfrm>
        </p:grpSpPr>
        <p:sp>
          <p:nvSpPr>
            <p:cNvPr id="22" name="Oval Callout 5">
              <a:extLst>
                <a:ext uri="{FF2B5EF4-FFF2-40B4-BE49-F238E27FC236}">
                  <a16:creationId xmlns:a16="http://schemas.microsoft.com/office/drawing/2014/main" id="{E938FBCF-1003-4179-864D-EA1C1C81231C}"/>
                </a:ext>
              </a:extLst>
            </p:cNvPr>
            <p:cNvSpPr/>
            <p:nvPr/>
          </p:nvSpPr>
          <p:spPr>
            <a:xfrm>
              <a:off x="3120137" y="-59828"/>
              <a:ext cx="4054031" cy="1838482"/>
            </a:xfrm>
            <a:prstGeom prst="wedgeEllipseCallout">
              <a:avLst>
                <a:gd name="adj1" fmla="val 63455"/>
                <a:gd name="adj2" fmla="val 21553"/>
              </a:avLst>
            </a:prstGeom>
            <a:solidFill>
              <a:srgbClr val="EEECE2"/>
            </a:solidFill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</p:spPr>
          <p:style>
            <a:lnRef idx="2">
              <a:schemeClr val="accent1">
                <a:shade val="50000"/>
              </a:schemeClr>
            </a:lnRef>
            <a:fillRef idx="1002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solidFill>
                  <a:prstClr val="white"/>
                </a:solidFill>
              </a:endParaRPr>
            </a:p>
          </p:txBody>
        </p:sp>
        <p:sp>
          <p:nvSpPr>
            <p:cNvPr id="25" name="Retângulo 1"/>
            <p:cNvSpPr/>
            <p:nvPr/>
          </p:nvSpPr>
          <p:spPr>
            <a:xfrm>
              <a:off x="3537129" y="145556"/>
              <a:ext cx="3024337" cy="137943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912813" fontAlgn="base">
                <a:spcBef>
                  <a:spcPct val="0"/>
                </a:spcBef>
                <a:spcAft>
                  <a:spcPct val="0"/>
                </a:spcAft>
                <a:buSzPct val="90000"/>
                <a:defRPr/>
              </a:pPr>
              <a:r>
                <a:rPr lang="ru-RU" sz="2000" dirty="0">
                  <a:solidFill>
                    <a:prstClr val="black">
                      <a:lumMod val="65000"/>
                      <a:lumOff val="35000"/>
                    </a:prstClr>
                  </a:solidFill>
                </a:rPr>
                <a:t>Никаких вмешательств не требуется в </a:t>
              </a:r>
              <a:endParaRPr lang="en-US" sz="2000" dirty="0">
                <a:solidFill>
                  <a:prstClr val="black">
                    <a:lumMod val="65000"/>
                    <a:lumOff val="35000"/>
                  </a:prstClr>
                </a:solidFill>
              </a:endParaRPr>
            </a:p>
            <a:p>
              <a:pPr algn="ctr" defTabSz="912813" fontAlgn="base">
                <a:spcBef>
                  <a:spcPct val="0"/>
                </a:spcBef>
                <a:spcAft>
                  <a:spcPct val="0"/>
                </a:spcAft>
                <a:buSzPct val="90000"/>
                <a:defRPr/>
              </a:pPr>
              <a:r>
                <a:rPr lang="ru-RU" sz="2000" b="1" dirty="0">
                  <a:solidFill>
                    <a:srgbClr val="00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ЗЕЛЕНОЙ ЗОНЕ</a:t>
              </a:r>
              <a:endParaRPr lang="en-US" sz="2000" b="1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19" name="Titel 3"/>
          <p:cNvSpPr txBox="1">
            <a:spLocks/>
          </p:cNvSpPr>
          <p:nvPr/>
        </p:nvSpPr>
        <p:spPr>
          <a:xfrm>
            <a:off x="274067" y="156493"/>
            <a:ext cx="8042349" cy="3270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ОТСЛЕЖИВАНИЕ PI ЧЕРЕЗ SIC</a:t>
            </a:r>
          </a:p>
        </p:txBody>
      </p:sp>
    </p:spTree>
    <p:extLst>
      <p:ext uri="{BB962C8B-B14F-4D97-AF65-F5344CB8AC3E}">
        <p14:creationId xmlns:p14="http://schemas.microsoft.com/office/powerpoint/2010/main" val="1107775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19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19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1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750"/>
                            </p:stCondLst>
                            <p:childTnLst>
                              <p:par>
                                <p:cTn id="15" presetID="3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0"/>
                            </p:stCondLst>
                            <p:childTnLst>
                              <p:par>
                                <p:cTn id="22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64564" y="843558"/>
            <a:ext cx="6955708" cy="3816424"/>
            <a:chOff x="64564" y="843558"/>
            <a:chExt cx="6955708" cy="3816424"/>
          </a:xfrm>
        </p:grpSpPr>
        <p:pic>
          <p:nvPicPr>
            <p:cNvPr id="41988" name="Picture 4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564" y="843558"/>
              <a:ext cx="6955708" cy="38164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15" name="Straight Connector 14"/>
            <p:cNvCxnSpPr/>
            <p:nvPr/>
          </p:nvCxnSpPr>
          <p:spPr>
            <a:xfrm>
              <a:off x="723610" y="1688675"/>
              <a:ext cx="824054" cy="162995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1536055" y="1851670"/>
              <a:ext cx="587673" cy="36004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" name="Group 3"/>
          <p:cNvGrpSpPr/>
          <p:nvPr/>
        </p:nvGrpSpPr>
        <p:grpSpPr>
          <a:xfrm>
            <a:off x="5076056" y="139134"/>
            <a:ext cx="5559625" cy="4376832"/>
            <a:chOff x="3679743" y="-380578"/>
            <a:chExt cx="6344775" cy="5073282"/>
          </a:xfrm>
        </p:grpSpPr>
        <p:pic>
          <p:nvPicPr>
            <p:cNvPr id="10" name="Picture 3" descr="C:\Users\malogopo\Desktop\1323.png"/>
            <p:cNvPicPr>
              <a:picLocks noChangeAspect="1" noChangeArrowheads="1"/>
            </p:cNvPicPr>
            <p:nvPr/>
          </p:nvPicPr>
          <p:blipFill rotWithShape="1">
            <a:blip r:embed="rId4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3125" b="96250" l="10000" r="90000">
                          <a14:backgroundMark x1="41875" y1="59062" x2="41875" y2="59062"/>
                          <a14:backgroundMark x1="58438" y1="58281" x2="58438" y2="58281"/>
                        </a14:backgroundRemoval>
                      </a14:imgEffect>
                      <a14:imgEffect>
                        <a14:colorTemperature colorTemp="11200"/>
                      </a14:imgEffect>
                      <a14:imgEffect>
                        <a14:saturation sat="400000"/>
                      </a14:imgEffect>
                      <a14:imgEffect>
                        <a14:brightnessContrast bright="2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0757"/>
            <a:stretch/>
          </p:blipFill>
          <p:spPr bwMode="auto">
            <a:xfrm>
              <a:off x="3679743" y="-380578"/>
              <a:ext cx="6344775" cy="50732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5" descr="C:\Users\malogopo\Desktop\Picture9.png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57411" y="197869"/>
              <a:ext cx="1046602" cy="4355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1989" name="Picture 5" descr="C:\Users\malogopo\Desktop\5a214d43d8a7a1601215d12f.p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1609" y="1582253"/>
            <a:ext cx="2146215" cy="1609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Grupo 6"/>
          <p:cNvGrpSpPr/>
          <p:nvPr/>
        </p:nvGrpSpPr>
        <p:grpSpPr>
          <a:xfrm>
            <a:off x="2051367" y="510605"/>
            <a:ext cx="4668911" cy="1769552"/>
            <a:chOff x="2135337" y="-414624"/>
            <a:chExt cx="4668911" cy="1772422"/>
          </a:xfrm>
        </p:grpSpPr>
        <p:sp>
          <p:nvSpPr>
            <p:cNvPr id="22" name="Oval Callout 5">
              <a:extLst>
                <a:ext uri="{FF2B5EF4-FFF2-40B4-BE49-F238E27FC236}">
                  <a16:creationId xmlns:a16="http://schemas.microsoft.com/office/drawing/2014/main" id="{E938FBCF-1003-4179-864D-EA1C1C81231C}"/>
                </a:ext>
              </a:extLst>
            </p:cNvPr>
            <p:cNvSpPr/>
            <p:nvPr/>
          </p:nvSpPr>
          <p:spPr>
            <a:xfrm>
              <a:off x="2135337" y="-414624"/>
              <a:ext cx="4668911" cy="1772422"/>
            </a:xfrm>
            <a:prstGeom prst="wedgeEllipseCallout">
              <a:avLst>
                <a:gd name="adj1" fmla="val 64081"/>
                <a:gd name="adj2" fmla="val 61731"/>
              </a:avLst>
            </a:prstGeom>
            <a:solidFill>
              <a:srgbClr val="EEECE2"/>
            </a:solidFill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</p:spPr>
          <p:style>
            <a:lnRef idx="2">
              <a:schemeClr val="accent1">
                <a:shade val="50000"/>
              </a:schemeClr>
            </a:lnRef>
            <a:fillRef idx="1002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solidFill>
                  <a:prstClr val="white"/>
                </a:solidFill>
              </a:endParaRPr>
            </a:p>
          </p:txBody>
        </p:sp>
        <p:sp>
          <p:nvSpPr>
            <p:cNvPr id="25" name="Retângulo 1"/>
            <p:cNvSpPr/>
            <p:nvPr/>
          </p:nvSpPr>
          <p:spPr>
            <a:xfrm>
              <a:off x="2638686" y="-214632"/>
              <a:ext cx="3820754" cy="13255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912813" fontAlgn="base">
                <a:spcBef>
                  <a:spcPct val="0"/>
                </a:spcBef>
                <a:spcAft>
                  <a:spcPct val="0"/>
                </a:spcAft>
                <a:buSzPct val="90000"/>
                <a:defRPr/>
              </a:pPr>
              <a:r>
                <a:rPr lang="ru-RU" sz="2000" dirty="0">
                  <a:solidFill>
                    <a:prstClr val="black">
                      <a:lumMod val="65000"/>
                      <a:lumOff val="35000"/>
                    </a:prstClr>
                  </a:solidFill>
                </a:rPr>
                <a:t>Если индикатор процесса попадает в </a:t>
              </a:r>
              <a:r>
                <a:rPr lang="ru-RU" sz="2000" b="1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ЖЕЛТУЮ ЗОНУ</a:t>
              </a:r>
              <a:r>
                <a:rPr lang="ru-RU" sz="2000" dirty="0">
                  <a:solidFill>
                    <a:prstClr val="black">
                      <a:lumMod val="65000"/>
                      <a:lumOff val="35000"/>
                    </a:prstClr>
                  </a:solidFill>
                </a:rPr>
                <a:t>, я действую согласно инструкциям в </a:t>
              </a:r>
              <a:r>
                <a:rPr lang="en-US" sz="2000" dirty="0">
                  <a:solidFill>
                    <a:prstClr val="black">
                      <a:lumMod val="65000"/>
                      <a:lumOff val="35000"/>
                    </a:prstClr>
                  </a:solidFill>
                </a:rPr>
                <a:t>SIC </a:t>
              </a:r>
              <a:r>
                <a:rPr lang="ru-RU" sz="2000" dirty="0">
                  <a:solidFill>
                    <a:prstClr val="black">
                      <a:lumMod val="65000"/>
                      <a:lumOff val="35000"/>
                    </a:prstClr>
                  </a:solidFill>
                </a:rPr>
                <a:t>таблице</a:t>
              </a:r>
              <a:endParaRPr lang="en-US" sz="2000" dirty="0">
                <a:solidFill>
                  <a:prstClr val="black">
                    <a:lumMod val="65000"/>
                    <a:lumOff val="35000"/>
                  </a:prstClr>
                </a:solidFill>
              </a:endParaRPr>
            </a:p>
          </p:txBody>
        </p:sp>
      </p:grpSp>
      <p:pic>
        <p:nvPicPr>
          <p:cNvPr id="5" name="Imagen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86522" y="2805887"/>
            <a:ext cx="1861741" cy="800434"/>
          </a:xfrm>
          <a:prstGeom prst="rect">
            <a:avLst/>
          </a:prstGeom>
        </p:spPr>
      </p:pic>
      <p:grpSp>
        <p:nvGrpSpPr>
          <p:cNvPr id="9" name="Grupo 8"/>
          <p:cNvGrpSpPr/>
          <p:nvPr/>
        </p:nvGrpSpPr>
        <p:grpSpPr>
          <a:xfrm>
            <a:off x="4998015" y="2017220"/>
            <a:ext cx="4680519" cy="3384376"/>
            <a:chOff x="4995268" y="1854053"/>
            <a:chExt cx="4680519" cy="3384376"/>
          </a:xfrm>
        </p:grpSpPr>
        <p:grpSp>
          <p:nvGrpSpPr>
            <p:cNvPr id="8" name="Grupo 7"/>
            <p:cNvGrpSpPr/>
            <p:nvPr/>
          </p:nvGrpSpPr>
          <p:grpSpPr>
            <a:xfrm>
              <a:off x="5470948" y="2216022"/>
              <a:ext cx="1953831" cy="1872208"/>
              <a:chOff x="5470948" y="2216022"/>
              <a:chExt cx="1953831" cy="1872208"/>
            </a:xfrm>
          </p:grpSpPr>
          <p:sp>
            <p:nvSpPr>
              <p:cNvPr id="24" name="Oval 23"/>
              <p:cNvSpPr/>
              <p:nvPr/>
            </p:nvSpPr>
            <p:spPr>
              <a:xfrm>
                <a:off x="5470948" y="2216022"/>
                <a:ext cx="1953831" cy="1872208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3" name="Imagen 2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651504" y="2751770"/>
                <a:ext cx="1592718" cy="723963"/>
              </a:xfrm>
              <a:prstGeom prst="rect">
                <a:avLst/>
              </a:prstGeom>
            </p:spPr>
          </p:pic>
        </p:grpSp>
        <p:pic>
          <p:nvPicPr>
            <p:cNvPr id="26" name="Picture 5" descr="C:\Users\malogopo\Desktop\5a214d43d8a7a1601215d12f.png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95268" y="1854053"/>
              <a:ext cx="4680519" cy="33843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Titel 3"/>
          <p:cNvSpPr txBox="1">
            <a:spLocks/>
          </p:cNvSpPr>
          <p:nvPr/>
        </p:nvSpPr>
        <p:spPr>
          <a:xfrm>
            <a:off x="274067" y="123478"/>
            <a:ext cx="8042349" cy="3270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ОТСЛЕЖИВАНИЕ PI ЧЕРЕЗ SIC</a:t>
            </a:r>
          </a:p>
        </p:txBody>
      </p:sp>
    </p:spTree>
    <p:extLst>
      <p:ext uri="{BB962C8B-B14F-4D97-AF65-F5344CB8AC3E}">
        <p14:creationId xmlns:p14="http://schemas.microsoft.com/office/powerpoint/2010/main" val="2052419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19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19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1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000"/>
                            </p:stCondLst>
                            <p:childTnLst>
                              <p:par>
                                <p:cTn id="23" presetID="53" presetClass="entr" presetSubtype="16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/>
          <p:cNvGrpSpPr/>
          <p:nvPr/>
        </p:nvGrpSpPr>
        <p:grpSpPr>
          <a:xfrm>
            <a:off x="64564" y="483518"/>
            <a:ext cx="6955708" cy="4158378"/>
            <a:chOff x="64564" y="483518"/>
            <a:chExt cx="6955708" cy="4158378"/>
          </a:xfrm>
        </p:grpSpPr>
        <p:grpSp>
          <p:nvGrpSpPr>
            <p:cNvPr id="2" name="Grupo 1"/>
            <p:cNvGrpSpPr/>
            <p:nvPr/>
          </p:nvGrpSpPr>
          <p:grpSpPr>
            <a:xfrm>
              <a:off x="64564" y="483518"/>
              <a:ext cx="6955708" cy="4158378"/>
              <a:chOff x="64564" y="555526"/>
              <a:chExt cx="6955708" cy="4158378"/>
            </a:xfrm>
          </p:grpSpPr>
          <p:pic>
            <p:nvPicPr>
              <p:cNvPr id="41988" name="Picture 4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4564" y="555526"/>
                <a:ext cx="6955708" cy="415837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cxnSp>
            <p:nvCxnSpPr>
              <p:cNvPr id="15" name="Straight Connector 14"/>
              <p:cNvCxnSpPr/>
              <p:nvPr/>
            </p:nvCxnSpPr>
            <p:spPr>
              <a:xfrm>
                <a:off x="723610" y="1688675"/>
                <a:ext cx="824054" cy="162995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>
              <a:xfrm>
                <a:off x="1536055" y="1851670"/>
                <a:ext cx="587673" cy="36004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/>
              <p:cNvCxnSpPr/>
              <p:nvPr/>
            </p:nvCxnSpPr>
            <p:spPr>
              <a:xfrm>
                <a:off x="2105970" y="2212094"/>
                <a:ext cx="161774" cy="431664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pic>
          <p:nvPicPr>
            <p:cNvPr id="5" name="Imagen 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95536" y="2600784"/>
              <a:ext cx="1899242" cy="907070"/>
            </a:xfrm>
            <a:prstGeom prst="rect">
              <a:avLst/>
            </a:prstGeom>
          </p:spPr>
        </p:pic>
      </p:grpSp>
      <p:grpSp>
        <p:nvGrpSpPr>
          <p:cNvPr id="4" name="Group 3"/>
          <p:cNvGrpSpPr/>
          <p:nvPr/>
        </p:nvGrpSpPr>
        <p:grpSpPr>
          <a:xfrm>
            <a:off x="4860032" y="-193333"/>
            <a:ext cx="5828953" cy="4637291"/>
            <a:chOff x="3679743" y="-125267"/>
            <a:chExt cx="6344775" cy="5073282"/>
          </a:xfrm>
        </p:grpSpPr>
        <p:pic>
          <p:nvPicPr>
            <p:cNvPr id="10" name="Picture 3" descr="C:\Users\malogopo\Desktop\1323.png"/>
            <p:cNvPicPr>
              <a:picLocks noChangeAspect="1" noChangeArrowheads="1"/>
            </p:cNvPicPr>
            <p:nvPr/>
          </p:nvPicPr>
          <p:blipFill rotWithShape="1">
            <a:blip r:embed="rId5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3125" b="96250" l="10000" r="90000">
                          <a14:backgroundMark x1="41875" y1="59062" x2="41875" y2="59062"/>
                          <a14:backgroundMark x1="58438" y1="58281" x2="58438" y2="58281"/>
                        </a14:backgroundRemoval>
                      </a14:imgEffect>
                      <a14:imgEffect>
                        <a14:colorTemperature colorTemp="11200"/>
                      </a14:imgEffect>
                      <a14:imgEffect>
                        <a14:saturation sat="400000"/>
                      </a14:imgEffect>
                      <a14:imgEffect>
                        <a14:brightnessContrast bright="2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0757"/>
            <a:stretch/>
          </p:blipFill>
          <p:spPr bwMode="auto">
            <a:xfrm>
              <a:off x="3679743" y="-125267"/>
              <a:ext cx="6344775" cy="50732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5" descr="C:\Users\malogopo\Desktop\Picture9.png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15346" y="408017"/>
              <a:ext cx="1046602" cy="4355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" name="Grupo 2"/>
          <p:cNvGrpSpPr/>
          <p:nvPr/>
        </p:nvGrpSpPr>
        <p:grpSpPr>
          <a:xfrm>
            <a:off x="2089567" y="589014"/>
            <a:ext cx="4820372" cy="1660111"/>
            <a:chOff x="2181292" y="-214346"/>
            <a:chExt cx="4820372" cy="2080823"/>
          </a:xfrm>
        </p:grpSpPr>
        <p:sp>
          <p:nvSpPr>
            <p:cNvPr id="22" name="Oval Callout 5">
              <a:extLst>
                <a:ext uri="{FF2B5EF4-FFF2-40B4-BE49-F238E27FC236}">
                  <a16:creationId xmlns:a16="http://schemas.microsoft.com/office/drawing/2014/main" id="{E938FBCF-1003-4179-864D-EA1C1C81231C}"/>
                </a:ext>
              </a:extLst>
            </p:cNvPr>
            <p:cNvSpPr/>
            <p:nvPr/>
          </p:nvSpPr>
          <p:spPr>
            <a:xfrm>
              <a:off x="2181292" y="-214346"/>
              <a:ext cx="4820372" cy="2080823"/>
            </a:xfrm>
            <a:prstGeom prst="wedgeEllipseCallout">
              <a:avLst>
                <a:gd name="adj1" fmla="val 60570"/>
                <a:gd name="adj2" fmla="val 34659"/>
              </a:avLst>
            </a:prstGeom>
            <a:solidFill>
              <a:srgbClr val="EEECE2"/>
            </a:solidFill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</p:spPr>
          <p:style>
            <a:lnRef idx="2">
              <a:schemeClr val="accent1">
                <a:shade val="50000"/>
              </a:schemeClr>
            </a:lnRef>
            <a:fillRef idx="1002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solidFill>
                  <a:prstClr val="white"/>
                </a:solidFill>
              </a:endParaRPr>
            </a:p>
          </p:txBody>
        </p:sp>
        <p:sp>
          <p:nvSpPr>
            <p:cNvPr id="25" name="Retângulo 1"/>
            <p:cNvSpPr/>
            <p:nvPr/>
          </p:nvSpPr>
          <p:spPr>
            <a:xfrm>
              <a:off x="2666553" y="-11187"/>
              <a:ext cx="4121583" cy="16588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912813" fontAlgn="base">
                <a:spcBef>
                  <a:spcPct val="0"/>
                </a:spcBef>
                <a:spcAft>
                  <a:spcPct val="0"/>
                </a:spcAft>
                <a:buSzPct val="90000"/>
                <a:defRPr/>
              </a:pPr>
              <a:r>
                <a:rPr lang="ru-RU" sz="2000" dirty="0">
                  <a:solidFill>
                    <a:prstClr val="black">
                      <a:lumMod val="65000"/>
                      <a:lumOff val="35000"/>
                    </a:prstClr>
                  </a:solidFill>
                </a:rPr>
                <a:t>Если индикатор процесса попадает в </a:t>
              </a:r>
              <a:r>
                <a:rPr lang="ru-RU" sz="20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КРАСНУЮ ЗОНУ</a:t>
              </a:r>
              <a:r>
                <a:rPr lang="en-US" sz="2000" dirty="0">
                  <a:solidFill>
                    <a:prstClr val="black">
                      <a:lumMod val="65000"/>
                      <a:lumOff val="35000"/>
                    </a:prstClr>
                  </a:solidFill>
                </a:rPr>
                <a:t> </a:t>
              </a:r>
              <a:r>
                <a:rPr lang="ru-RU" sz="2000" dirty="0">
                  <a:solidFill>
                    <a:prstClr val="black">
                      <a:lumMod val="65000"/>
                      <a:lumOff val="35000"/>
                    </a:prstClr>
                  </a:solidFill>
                </a:rPr>
                <a:t>я действую согласно инструкциям для данных случаев</a:t>
              </a:r>
              <a:endParaRPr lang="en-US" sz="2000" dirty="0">
                <a:solidFill>
                  <a:prstClr val="black">
                    <a:lumMod val="65000"/>
                    <a:lumOff val="35000"/>
                  </a:prstClr>
                </a:solidFill>
              </a:endParaRPr>
            </a:p>
          </p:txBody>
        </p:sp>
      </p:grpSp>
      <p:sp>
        <p:nvSpPr>
          <p:cNvPr id="24" name="Oval 23"/>
          <p:cNvSpPr/>
          <p:nvPr/>
        </p:nvSpPr>
        <p:spPr>
          <a:xfrm>
            <a:off x="4850407" y="2478469"/>
            <a:ext cx="1953831" cy="187220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76056" y="2921438"/>
            <a:ext cx="1417443" cy="899238"/>
          </a:xfrm>
          <a:prstGeom prst="rect">
            <a:avLst/>
          </a:prstGeom>
        </p:spPr>
      </p:pic>
      <p:pic>
        <p:nvPicPr>
          <p:cNvPr id="26" name="Picture 5" descr="C:\Users\malogopo\Desktop\5a214d43d8a7a1601215d12f.png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2108" y="2080578"/>
            <a:ext cx="4813035" cy="3480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989" name="Picture 5" descr="C:\Users\malogopo\Desktop\5a214d43d8a7a1601215d12f.png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6097" y="2127284"/>
            <a:ext cx="2146215" cy="1609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0FD7EA5-C46A-4303-A2B8-04AAD4FBF406}"/>
              </a:ext>
            </a:extLst>
          </p:cNvPr>
          <p:cNvSpPr/>
          <p:nvPr/>
        </p:nvSpPr>
        <p:spPr>
          <a:xfrm>
            <a:off x="5079059" y="2828157"/>
            <a:ext cx="1417443" cy="970617"/>
          </a:xfrm>
          <a:prstGeom prst="rect">
            <a:avLst/>
          </a:prstGeom>
          <a:solidFill>
            <a:srgbClr val="FE1515"/>
          </a:solidFill>
          <a:ln>
            <a:solidFill>
              <a:srgbClr val="FF161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800" dirty="0"/>
              <a:t>Действия в красной зоне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800" dirty="0"/>
              <a:t>Выполните </a:t>
            </a:r>
            <a:r>
              <a:rPr lang="ru-RU" sz="800" dirty="0" err="1"/>
              <a:t>действижелтой</a:t>
            </a:r>
            <a:r>
              <a:rPr lang="ru-RU" sz="800" dirty="0"/>
              <a:t> зоны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800" dirty="0"/>
              <a:t>Примените способ </a:t>
            </a:r>
            <a:r>
              <a:rPr lang="en-US" sz="800" dirty="0"/>
              <a:t>“</a:t>
            </a:r>
            <a:r>
              <a:rPr lang="ru-RU" sz="800" dirty="0"/>
              <a:t>5 Почему?</a:t>
            </a:r>
            <a:r>
              <a:rPr lang="en-US" sz="800" dirty="0"/>
              <a:t>” </a:t>
            </a:r>
            <a:r>
              <a:rPr lang="ru-RU" sz="800" dirty="0"/>
              <a:t>до конца своей смены</a:t>
            </a:r>
          </a:p>
        </p:txBody>
      </p:sp>
      <p:sp>
        <p:nvSpPr>
          <p:cNvPr id="23" name="Titel 3"/>
          <p:cNvSpPr txBox="1">
            <a:spLocks/>
          </p:cNvSpPr>
          <p:nvPr/>
        </p:nvSpPr>
        <p:spPr>
          <a:xfrm>
            <a:off x="274067" y="156493"/>
            <a:ext cx="8042349" cy="3270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ОТСЛЕЖИВАНИЕ PI ЧЕРЕЗ SIC</a:t>
            </a:r>
          </a:p>
        </p:txBody>
      </p:sp>
    </p:spTree>
    <p:extLst>
      <p:ext uri="{BB962C8B-B14F-4D97-AF65-F5344CB8AC3E}">
        <p14:creationId xmlns:p14="http://schemas.microsoft.com/office/powerpoint/2010/main" val="1601056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19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19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1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5076056" y="87906"/>
            <a:ext cx="5498472" cy="4606655"/>
            <a:chOff x="3679743" y="-125267"/>
            <a:chExt cx="6344775" cy="5073282"/>
          </a:xfrm>
        </p:grpSpPr>
        <p:pic>
          <p:nvPicPr>
            <p:cNvPr id="10" name="Picture 3" descr="C:\Users\malogopo\Desktop\1323.png"/>
            <p:cNvPicPr>
              <a:picLocks noChangeAspect="1" noChangeArrowheads="1"/>
            </p:cNvPicPr>
            <p:nvPr/>
          </p:nvPicPr>
          <p:blipFill rotWithShape="1">
            <a:blip r:embed="rId3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3125" b="96250" l="10000" r="90000">
                          <a14:backgroundMark x1="41875" y1="59062" x2="41875" y2="59062"/>
                          <a14:backgroundMark x1="58438" y1="58281" x2="58438" y2="58281"/>
                        </a14:backgroundRemoval>
                      </a14:imgEffect>
                      <a14:imgEffect>
                        <a14:colorTemperature colorTemp="11200"/>
                      </a14:imgEffect>
                      <a14:imgEffect>
                        <a14:saturation sat="400000"/>
                      </a14:imgEffect>
                      <a14:imgEffect>
                        <a14:brightnessContrast bright="2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0757"/>
            <a:stretch/>
          </p:blipFill>
          <p:spPr bwMode="auto">
            <a:xfrm>
              <a:off x="3679743" y="-125267"/>
              <a:ext cx="6344775" cy="50732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5" descr="C:\Users\malogopo\Desktop\Picture9.png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15346" y="408017"/>
              <a:ext cx="1046602" cy="4355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285700" y="-222622"/>
            <a:ext cx="7886700" cy="994172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dirty="0"/>
              <a:t>БЫСТРАЯ КОРРЕКТИРОВКА ЧЕРЕЗ МЕТОД 5-ПОЧЕМУ</a:t>
            </a:r>
            <a:endParaRPr lang="en-GB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3" y="596037"/>
            <a:ext cx="5520114" cy="41505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2" name="Grupo 1"/>
          <p:cNvGrpSpPr/>
          <p:nvPr/>
        </p:nvGrpSpPr>
        <p:grpSpPr>
          <a:xfrm>
            <a:off x="3068215" y="605365"/>
            <a:ext cx="4039893" cy="1938267"/>
            <a:chOff x="2915815" y="51469"/>
            <a:chExt cx="4039893" cy="1938267"/>
          </a:xfrm>
        </p:grpSpPr>
        <p:sp>
          <p:nvSpPr>
            <p:cNvPr id="13" name="Oval Callout 5">
              <a:extLst>
                <a:ext uri="{FF2B5EF4-FFF2-40B4-BE49-F238E27FC236}">
                  <a16:creationId xmlns:a16="http://schemas.microsoft.com/office/drawing/2014/main" id="{E938FBCF-1003-4179-864D-EA1C1C81231C}"/>
                </a:ext>
              </a:extLst>
            </p:cNvPr>
            <p:cNvSpPr/>
            <p:nvPr/>
          </p:nvSpPr>
          <p:spPr>
            <a:xfrm>
              <a:off x="2915815" y="51469"/>
              <a:ext cx="4039893" cy="1938267"/>
            </a:xfrm>
            <a:prstGeom prst="wedgeEllipseCallout">
              <a:avLst>
                <a:gd name="adj1" fmla="val 59236"/>
                <a:gd name="adj2" fmla="val 55023"/>
              </a:avLst>
            </a:prstGeom>
            <a:solidFill>
              <a:srgbClr val="EEECE2"/>
            </a:solidFill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</p:spPr>
          <p:style>
            <a:lnRef idx="2">
              <a:schemeClr val="accent1">
                <a:shade val="50000"/>
              </a:schemeClr>
            </a:lnRef>
            <a:fillRef idx="1002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solidFill>
                  <a:prstClr val="white"/>
                </a:solidFill>
              </a:endParaRPr>
            </a:p>
          </p:txBody>
        </p:sp>
        <p:sp>
          <p:nvSpPr>
            <p:cNvPr id="14" name="Retângulo 1"/>
            <p:cNvSpPr/>
            <p:nvPr/>
          </p:nvSpPr>
          <p:spPr>
            <a:xfrm>
              <a:off x="3374350" y="420437"/>
              <a:ext cx="3122822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912813" fontAlgn="base">
                <a:spcBef>
                  <a:spcPct val="0"/>
                </a:spcBef>
                <a:spcAft>
                  <a:spcPct val="0"/>
                </a:spcAft>
                <a:buSzPct val="90000"/>
                <a:defRPr/>
              </a:pPr>
              <a:r>
                <a:rPr lang="ru-RU" dirty="0">
                  <a:solidFill>
                    <a:prstClr val="black">
                      <a:lumMod val="65000"/>
                      <a:lumOff val="35000"/>
                    </a:prstClr>
                  </a:solidFill>
                </a:rPr>
                <a:t>Для</a:t>
              </a:r>
              <a:r>
                <a:rPr lang="en-US" dirty="0">
                  <a:solidFill>
                    <a:prstClr val="black">
                      <a:lumMod val="65000"/>
                      <a:lumOff val="35000"/>
                    </a:prstClr>
                  </a:solidFill>
                </a:rPr>
                <a:t> PI </a:t>
              </a:r>
              <a:r>
                <a:rPr lang="ru-RU" dirty="0">
                  <a:solidFill>
                    <a:prstClr val="black">
                      <a:lumMod val="65000"/>
                      <a:lumOff val="35000"/>
                    </a:prstClr>
                  </a:solidFill>
                </a:rPr>
                <a:t>в</a:t>
              </a:r>
              <a:r>
                <a:rPr lang="en-US" dirty="0">
                  <a:solidFill>
                    <a:prstClr val="black">
                      <a:lumMod val="65000"/>
                      <a:lumOff val="35000"/>
                    </a:prstClr>
                  </a:solidFill>
                </a:rPr>
                <a:t> </a:t>
              </a:r>
              <a:r>
                <a:rPr lang="ru-RU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КРАСНОЙ ЗОНЕ</a:t>
              </a:r>
              <a:r>
                <a:rPr lang="en-US" dirty="0">
                  <a:solidFill>
                    <a:prstClr val="black">
                      <a:lumMod val="65000"/>
                      <a:lumOff val="35000"/>
                    </a:prstClr>
                  </a:solidFill>
                </a:rPr>
                <a:t> </a:t>
              </a:r>
              <a:r>
                <a:rPr lang="ru-RU">
                  <a:solidFill>
                    <a:prstClr val="black">
                      <a:lumMod val="65000"/>
                      <a:lumOff val="35000"/>
                    </a:prstClr>
                  </a:solidFill>
                </a:rPr>
                <a:t>я провожу анализ первопричин с помощью метода 5ПОЧЕМУ</a:t>
              </a:r>
              <a:endParaRPr lang="en-US" dirty="0">
                <a:solidFill>
                  <a:prstClr val="black">
                    <a:lumMod val="65000"/>
                    <a:lumOff val="35000"/>
                  </a:prst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5257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1" presetClass="entr" presetSubtype="1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49EE1FA-814C-4BDC-9591-31839B5CF716}" type="slidenum">
              <a:rPr>
                <a:solidFill>
                  <a:srgbClr val="45120F"/>
                </a:solidFill>
              </a:rPr>
              <a:pPr/>
              <a:t>15</a:t>
            </a:fld>
            <a:endParaRPr dirty="0">
              <a:solidFill>
                <a:srgbClr val="45120F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 idx="4294967295"/>
          </p:nvPr>
        </p:nvSpPr>
        <p:spPr>
          <a:xfrm>
            <a:off x="1835696" y="412750"/>
            <a:ext cx="7034212" cy="327025"/>
          </a:xfrm>
        </p:spPr>
        <p:txBody>
          <a:bodyPr>
            <a:normAutofit fontScale="90000"/>
          </a:bodyPr>
          <a:lstStyle/>
          <a:p>
            <a:r>
              <a:rPr lang="ru-RU" dirty="0"/>
              <a:t>Обсуждение: Какие процессы вы контролируете в своем OWS? Они критичны? Почему?</a:t>
            </a:r>
            <a:endParaRPr lang="en-US" dirty="0"/>
          </a:p>
        </p:txBody>
      </p:sp>
      <p:sp>
        <p:nvSpPr>
          <p:cNvPr id="5" name="Freeform 12"/>
          <p:cNvSpPr>
            <a:spLocks/>
          </p:cNvSpPr>
          <p:nvPr/>
        </p:nvSpPr>
        <p:spPr bwMode="auto">
          <a:xfrm>
            <a:off x="4374991" y="3692824"/>
            <a:ext cx="377825" cy="65088"/>
          </a:xfrm>
          <a:custGeom>
            <a:avLst/>
            <a:gdLst>
              <a:gd name="T0" fmla="*/ 145 w 145"/>
              <a:gd name="T1" fmla="*/ 12 h 25"/>
              <a:gd name="T2" fmla="*/ 129 w 145"/>
              <a:gd name="T3" fmla="*/ 25 h 25"/>
              <a:gd name="T4" fmla="*/ 16 w 145"/>
              <a:gd name="T5" fmla="*/ 25 h 25"/>
              <a:gd name="T6" fmla="*/ 0 w 145"/>
              <a:gd name="T7" fmla="*/ 12 h 25"/>
              <a:gd name="T8" fmla="*/ 16 w 145"/>
              <a:gd name="T9" fmla="*/ 0 h 25"/>
              <a:gd name="T10" fmla="*/ 129 w 145"/>
              <a:gd name="T11" fmla="*/ 0 h 25"/>
              <a:gd name="T12" fmla="*/ 145 w 145"/>
              <a:gd name="T13" fmla="*/ 12 h 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5" h="25">
                <a:moveTo>
                  <a:pt x="145" y="12"/>
                </a:moveTo>
                <a:cubicBezTo>
                  <a:pt x="145" y="19"/>
                  <a:pt x="138" y="25"/>
                  <a:pt x="129" y="25"/>
                </a:cubicBezTo>
                <a:cubicBezTo>
                  <a:pt x="16" y="25"/>
                  <a:pt x="16" y="25"/>
                  <a:pt x="16" y="25"/>
                </a:cubicBezTo>
                <a:cubicBezTo>
                  <a:pt x="7" y="25"/>
                  <a:pt x="0" y="19"/>
                  <a:pt x="0" y="12"/>
                </a:cubicBezTo>
                <a:cubicBezTo>
                  <a:pt x="0" y="6"/>
                  <a:pt x="7" y="0"/>
                  <a:pt x="16" y="0"/>
                </a:cubicBezTo>
                <a:cubicBezTo>
                  <a:pt x="129" y="0"/>
                  <a:pt x="129" y="0"/>
                  <a:pt x="129" y="0"/>
                </a:cubicBezTo>
                <a:cubicBezTo>
                  <a:pt x="138" y="0"/>
                  <a:pt x="145" y="6"/>
                  <a:pt x="145" y="1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685800"/>
            <a:endParaRPr lang="bg-BG" sz="1400">
              <a:solidFill>
                <a:prstClr val="black"/>
              </a:solidFill>
            </a:endParaRPr>
          </a:p>
        </p:txBody>
      </p:sp>
      <p:sp>
        <p:nvSpPr>
          <p:cNvPr id="6" name="Freeform 13"/>
          <p:cNvSpPr>
            <a:spLocks/>
          </p:cNvSpPr>
          <p:nvPr/>
        </p:nvSpPr>
        <p:spPr bwMode="auto">
          <a:xfrm>
            <a:off x="4374991" y="3765849"/>
            <a:ext cx="377825" cy="65088"/>
          </a:xfrm>
          <a:custGeom>
            <a:avLst/>
            <a:gdLst>
              <a:gd name="T0" fmla="*/ 145 w 145"/>
              <a:gd name="T1" fmla="*/ 13 h 25"/>
              <a:gd name="T2" fmla="*/ 129 w 145"/>
              <a:gd name="T3" fmla="*/ 25 h 25"/>
              <a:gd name="T4" fmla="*/ 16 w 145"/>
              <a:gd name="T5" fmla="*/ 25 h 25"/>
              <a:gd name="T6" fmla="*/ 0 w 145"/>
              <a:gd name="T7" fmla="*/ 13 h 25"/>
              <a:gd name="T8" fmla="*/ 16 w 145"/>
              <a:gd name="T9" fmla="*/ 0 h 25"/>
              <a:gd name="T10" fmla="*/ 129 w 145"/>
              <a:gd name="T11" fmla="*/ 0 h 25"/>
              <a:gd name="T12" fmla="*/ 145 w 145"/>
              <a:gd name="T13" fmla="*/ 13 h 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5" h="25">
                <a:moveTo>
                  <a:pt x="145" y="13"/>
                </a:moveTo>
                <a:cubicBezTo>
                  <a:pt x="145" y="20"/>
                  <a:pt x="138" y="25"/>
                  <a:pt x="129" y="25"/>
                </a:cubicBezTo>
                <a:cubicBezTo>
                  <a:pt x="16" y="25"/>
                  <a:pt x="16" y="25"/>
                  <a:pt x="16" y="25"/>
                </a:cubicBezTo>
                <a:cubicBezTo>
                  <a:pt x="7" y="25"/>
                  <a:pt x="0" y="20"/>
                  <a:pt x="0" y="13"/>
                </a:cubicBezTo>
                <a:cubicBezTo>
                  <a:pt x="0" y="6"/>
                  <a:pt x="7" y="0"/>
                  <a:pt x="16" y="0"/>
                </a:cubicBezTo>
                <a:cubicBezTo>
                  <a:pt x="129" y="0"/>
                  <a:pt x="129" y="0"/>
                  <a:pt x="129" y="0"/>
                </a:cubicBezTo>
                <a:cubicBezTo>
                  <a:pt x="138" y="0"/>
                  <a:pt x="145" y="6"/>
                  <a:pt x="145" y="1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685800"/>
            <a:endParaRPr lang="bg-BG" sz="1400">
              <a:solidFill>
                <a:prstClr val="black"/>
              </a:solidFill>
            </a:endParaRPr>
          </a:p>
        </p:txBody>
      </p:sp>
      <p:sp>
        <p:nvSpPr>
          <p:cNvPr id="7" name="Freeform 14"/>
          <p:cNvSpPr>
            <a:spLocks/>
          </p:cNvSpPr>
          <p:nvPr/>
        </p:nvSpPr>
        <p:spPr bwMode="auto">
          <a:xfrm>
            <a:off x="4374991" y="3842049"/>
            <a:ext cx="377825" cy="65088"/>
          </a:xfrm>
          <a:custGeom>
            <a:avLst/>
            <a:gdLst>
              <a:gd name="T0" fmla="*/ 145 w 145"/>
              <a:gd name="T1" fmla="*/ 12 h 25"/>
              <a:gd name="T2" fmla="*/ 129 w 145"/>
              <a:gd name="T3" fmla="*/ 25 h 25"/>
              <a:gd name="T4" fmla="*/ 16 w 145"/>
              <a:gd name="T5" fmla="*/ 25 h 25"/>
              <a:gd name="T6" fmla="*/ 0 w 145"/>
              <a:gd name="T7" fmla="*/ 12 h 25"/>
              <a:gd name="T8" fmla="*/ 16 w 145"/>
              <a:gd name="T9" fmla="*/ 0 h 25"/>
              <a:gd name="T10" fmla="*/ 129 w 145"/>
              <a:gd name="T11" fmla="*/ 0 h 25"/>
              <a:gd name="T12" fmla="*/ 145 w 145"/>
              <a:gd name="T13" fmla="*/ 12 h 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5" h="25">
                <a:moveTo>
                  <a:pt x="145" y="12"/>
                </a:moveTo>
                <a:cubicBezTo>
                  <a:pt x="145" y="19"/>
                  <a:pt x="138" y="25"/>
                  <a:pt x="129" y="25"/>
                </a:cubicBezTo>
                <a:cubicBezTo>
                  <a:pt x="16" y="25"/>
                  <a:pt x="16" y="25"/>
                  <a:pt x="16" y="25"/>
                </a:cubicBezTo>
                <a:cubicBezTo>
                  <a:pt x="7" y="25"/>
                  <a:pt x="0" y="19"/>
                  <a:pt x="0" y="12"/>
                </a:cubicBezTo>
                <a:cubicBezTo>
                  <a:pt x="0" y="5"/>
                  <a:pt x="7" y="0"/>
                  <a:pt x="16" y="0"/>
                </a:cubicBezTo>
                <a:cubicBezTo>
                  <a:pt x="129" y="0"/>
                  <a:pt x="129" y="0"/>
                  <a:pt x="129" y="0"/>
                </a:cubicBezTo>
                <a:cubicBezTo>
                  <a:pt x="138" y="0"/>
                  <a:pt x="145" y="5"/>
                  <a:pt x="145" y="1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685800"/>
            <a:endParaRPr lang="bg-BG" sz="1400">
              <a:solidFill>
                <a:prstClr val="black"/>
              </a:solidFill>
            </a:endParaRPr>
          </a:p>
        </p:txBody>
      </p:sp>
      <p:sp>
        <p:nvSpPr>
          <p:cNvPr id="8" name="Freeform 15"/>
          <p:cNvSpPr>
            <a:spLocks/>
          </p:cNvSpPr>
          <p:nvPr/>
        </p:nvSpPr>
        <p:spPr bwMode="auto">
          <a:xfrm>
            <a:off x="4456747" y="3915074"/>
            <a:ext cx="214313" cy="65088"/>
          </a:xfrm>
          <a:custGeom>
            <a:avLst/>
            <a:gdLst>
              <a:gd name="T0" fmla="*/ 82 w 82"/>
              <a:gd name="T1" fmla="*/ 0 h 25"/>
              <a:gd name="T2" fmla="*/ 41 w 82"/>
              <a:gd name="T3" fmla="*/ 25 h 25"/>
              <a:gd name="T4" fmla="*/ 0 w 82"/>
              <a:gd name="T5" fmla="*/ 0 h 25"/>
              <a:gd name="T6" fmla="*/ 82 w 82"/>
              <a:gd name="T7" fmla="*/ 0 h 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2" h="25">
                <a:moveTo>
                  <a:pt x="82" y="0"/>
                </a:moveTo>
                <a:cubicBezTo>
                  <a:pt x="82" y="14"/>
                  <a:pt x="64" y="25"/>
                  <a:pt x="41" y="25"/>
                </a:cubicBezTo>
                <a:cubicBezTo>
                  <a:pt x="18" y="25"/>
                  <a:pt x="0" y="14"/>
                  <a:pt x="0" y="0"/>
                </a:cubicBezTo>
                <a:lnTo>
                  <a:pt x="8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685800"/>
            <a:endParaRPr lang="bg-BG" sz="1400">
              <a:solidFill>
                <a:prstClr val="black"/>
              </a:solidFill>
            </a:endParaRPr>
          </a:p>
        </p:txBody>
      </p:sp>
      <p:sp>
        <p:nvSpPr>
          <p:cNvPr id="9" name="Freeform 16"/>
          <p:cNvSpPr>
            <a:spLocks noEditPoints="1"/>
          </p:cNvSpPr>
          <p:nvPr/>
        </p:nvSpPr>
        <p:spPr bwMode="auto">
          <a:xfrm>
            <a:off x="3933666" y="2163763"/>
            <a:ext cx="1260475" cy="1516063"/>
          </a:xfrm>
          <a:custGeom>
            <a:avLst/>
            <a:gdLst>
              <a:gd name="T0" fmla="*/ 241 w 483"/>
              <a:gd name="T1" fmla="*/ 0 h 580"/>
              <a:gd name="T2" fmla="*/ 0 w 483"/>
              <a:gd name="T3" fmla="*/ 241 h 580"/>
              <a:gd name="T4" fmla="*/ 62 w 483"/>
              <a:gd name="T5" fmla="*/ 402 h 580"/>
              <a:gd name="T6" fmla="*/ 62 w 483"/>
              <a:gd name="T7" fmla="*/ 402 h 580"/>
              <a:gd name="T8" fmla="*/ 63 w 483"/>
              <a:gd name="T9" fmla="*/ 403 h 580"/>
              <a:gd name="T10" fmla="*/ 73 w 483"/>
              <a:gd name="T11" fmla="*/ 414 h 580"/>
              <a:gd name="T12" fmla="*/ 129 w 483"/>
              <a:gd name="T13" fmla="*/ 483 h 580"/>
              <a:gd name="T14" fmla="*/ 199 w 483"/>
              <a:gd name="T15" fmla="*/ 580 h 580"/>
              <a:gd name="T16" fmla="*/ 235 w 483"/>
              <a:gd name="T17" fmla="*/ 580 h 580"/>
              <a:gd name="T18" fmla="*/ 247 w 483"/>
              <a:gd name="T19" fmla="*/ 580 h 580"/>
              <a:gd name="T20" fmla="*/ 284 w 483"/>
              <a:gd name="T21" fmla="*/ 580 h 580"/>
              <a:gd name="T22" fmla="*/ 353 w 483"/>
              <a:gd name="T23" fmla="*/ 483 h 580"/>
              <a:gd name="T24" fmla="*/ 407 w 483"/>
              <a:gd name="T25" fmla="*/ 416 h 580"/>
              <a:gd name="T26" fmla="*/ 483 w 483"/>
              <a:gd name="T27" fmla="*/ 241 h 580"/>
              <a:gd name="T28" fmla="*/ 241 w 483"/>
              <a:gd name="T29" fmla="*/ 0 h 580"/>
              <a:gd name="T30" fmla="*/ 331 w 483"/>
              <a:gd name="T31" fmla="*/ 349 h 580"/>
              <a:gd name="T32" fmla="*/ 302 w 483"/>
              <a:gd name="T33" fmla="*/ 388 h 580"/>
              <a:gd name="T34" fmla="*/ 264 w 483"/>
              <a:gd name="T35" fmla="*/ 443 h 580"/>
              <a:gd name="T36" fmla="*/ 245 w 483"/>
              <a:gd name="T37" fmla="*/ 443 h 580"/>
              <a:gd name="T38" fmla="*/ 238 w 483"/>
              <a:gd name="T39" fmla="*/ 443 h 580"/>
              <a:gd name="T40" fmla="*/ 218 w 483"/>
              <a:gd name="T41" fmla="*/ 443 h 580"/>
              <a:gd name="T42" fmla="*/ 181 w 483"/>
              <a:gd name="T43" fmla="*/ 388 h 580"/>
              <a:gd name="T44" fmla="*/ 150 w 483"/>
              <a:gd name="T45" fmla="*/ 348 h 580"/>
              <a:gd name="T46" fmla="*/ 145 w 483"/>
              <a:gd name="T47" fmla="*/ 341 h 580"/>
              <a:gd name="T48" fmla="*/ 144 w 483"/>
              <a:gd name="T49" fmla="*/ 341 h 580"/>
              <a:gd name="T50" fmla="*/ 144 w 483"/>
              <a:gd name="T51" fmla="*/ 341 h 580"/>
              <a:gd name="T52" fmla="*/ 111 w 483"/>
              <a:gd name="T53" fmla="*/ 248 h 580"/>
              <a:gd name="T54" fmla="*/ 241 w 483"/>
              <a:gd name="T55" fmla="*/ 109 h 580"/>
              <a:gd name="T56" fmla="*/ 372 w 483"/>
              <a:gd name="T57" fmla="*/ 248 h 580"/>
              <a:gd name="T58" fmla="*/ 331 w 483"/>
              <a:gd name="T59" fmla="*/ 349 h 5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483" h="580">
                <a:moveTo>
                  <a:pt x="241" y="0"/>
                </a:moveTo>
                <a:cubicBezTo>
                  <a:pt x="108" y="0"/>
                  <a:pt x="0" y="108"/>
                  <a:pt x="0" y="241"/>
                </a:cubicBezTo>
                <a:cubicBezTo>
                  <a:pt x="0" y="303"/>
                  <a:pt x="23" y="359"/>
                  <a:pt x="62" y="402"/>
                </a:cubicBezTo>
                <a:cubicBezTo>
                  <a:pt x="62" y="402"/>
                  <a:pt x="62" y="402"/>
                  <a:pt x="62" y="402"/>
                </a:cubicBezTo>
                <a:cubicBezTo>
                  <a:pt x="62" y="402"/>
                  <a:pt x="62" y="402"/>
                  <a:pt x="63" y="403"/>
                </a:cubicBezTo>
                <a:cubicBezTo>
                  <a:pt x="66" y="407"/>
                  <a:pt x="70" y="410"/>
                  <a:pt x="73" y="414"/>
                </a:cubicBezTo>
                <a:cubicBezTo>
                  <a:pt x="88" y="429"/>
                  <a:pt x="112" y="457"/>
                  <a:pt x="129" y="483"/>
                </a:cubicBezTo>
                <a:cubicBezTo>
                  <a:pt x="154" y="523"/>
                  <a:pt x="141" y="580"/>
                  <a:pt x="199" y="580"/>
                </a:cubicBezTo>
                <a:cubicBezTo>
                  <a:pt x="235" y="580"/>
                  <a:pt x="235" y="580"/>
                  <a:pt x="235" y="580"/>
                </a:cubicBezTo>
                <a:cubicBezTo>
                  <a:pt x="247" y="580"/>
                  <a:pt x="247" y="580"/>
                  <a:pt x="247" y="580"/>
                </a:cubicBezTo>
                <a:cubicBezTo>
                  <a:pt x="284" y="580"/>
                  <a:pt x="284" y="580"/>
                  <a:pt x="284" y="580"/>
                </a:cubicBezTo>
                <a:cubicBezTo>
                  <a:pt x="341" y="580"/>
                  <a:pt x="329" y="523"/>
                  <a:pt x="353" y="483"/>
                </a:cubicBezTo>
                <a:cubicBezTo>
                  <a:pt x="369" y="458"/>
                  <a:pt x="393" y="431"/>
                  <a:pt x="407" y="416"/>
                </a:cubicBezTo>
                <a:cubicBezTo>
                  <a:pt x="454" y="372"/>
                  <a:pt x="483" y="310"/>
                  <a:pt x="483" y="241"/>
                </a:cubicBezTo>
                <a:cubicBezTo>
                  <a:pt x="483" y="108"/>
                  <a:pt x="375" y="0"/>
                  <a:pt x="241" y="0"/>
                </a:cubicBezTo>
                <a:close/>
                <a:moveTo>
                  <a:pt x="331" y="349"/>
                </a:moveTo>
                <a:cubicBezTo>
                  <a:pt x="323" y="358"/>
                  <a:pt x="311" y="373"/>
                  <a:pt x="302" y="388"/>
                </a:cubicBezTo>
                <a:cubicBezTo>
                  <a:pt x="289" y="411"/>
                  <a:pt x="295" y="443"/>
                  <a:pt x="264" y="443"/>
                </a:cubicBezTo>
                <a:cubicBezTo>
                  <a:pt x="245" y="443"/>
                  <a:pt x="245" y="443"/>
                  <a:pt x="245" y="443"/>
                </a:cubicBezTo>
                <a:cubicBezTo>
                  <a:pt x="238" y="443"/>
                  <a:pt x="238" y="443"/>
                  <a:pt x="238" y="443"/>
                </a:cubicBezTo>
                <a:cubicBezTo>
                  <a:pt x="218" y="443"/>
                  <a:pt x="218" y="443"/>
                  <a:pt x="218" y="443"/>
                </a:cubicBezTo>
                <a:cubicBezTo>
                  <a:pt x="187" y="443"/>
                  <a:pt x="194" y="411"/>
                  <a:pt x="181" y="388"/>
                </a:cubicBezTo>
                <a:cubicBezTo>
                  <a:pt x="172" y="372"/>
                  <a:pt x="158" y="356"/>
                  <a:pt x="150" y="348"/>
                </a:cubicBezTo>
                <a:cubicBezTo>
                  <a:pt x="148" y="345"/>
                  <a:pt x="146" y="343"/>
                  <a:pt x="145" y="341"/>
                </a:cubicBezTo>
                <a:cubicBezTo>
                  <a:pt x="144" y="341"/>
                  <a:pt x="144" y="341"/>
                  <a:pt x="144" y="341"/>
                </a:cubicBezTo>
                <a:cubicBezTo>
                  <a:pt x="144" y="341"/>
                  <a:pt x="144" y="341"/>
                  <a:pt x="144" y="341"/>
                </a:cubicBezTo>
                <a:cubicBezTo>
                  <a:pt x="123" y="316"/>
                  <a:pt x="111" y="284"/>
                  <a:pt x="111" y="248"/>
                </a:cubicBezTo>
                <a:cubicBezTo>
                  <a:pt x="111" y="171"/>
                  <a:pt x="169" y="109"/>
                  <a:pt x="241" y="109"/>
                </a:cubicBezTo>
                <a:cubicBezTo>
                  <a:pt x="314" y="109"/>
                  <a:pt x="372" y="171"/>
                  <a:pt x="372" y="248"/>
                </a:cubicBezTo>
                <a:cubicBezTo>
                  <a:pt x="372" y="288"/>
                  <a:pt x="356" y="323"/>
                  <a:pt x="331" y="34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685800"/>
            <a:endParaRPr lang="bg-BG" sz="1400">
              <a:solidFill>
                <a:prstClr val="black"/>
              </a:solidFill>
            </a:endParaRPr>
          </a:p>
        </p:txBody>
      </p:sp>
      <p:sp>
        <p:nvSpPr>
          <p:cNvPr id="10" name="Freeform 1614"/>
          <p:cNvSpPr>
            <a:spLocks noEditPoints="1"/>
          </p:cNvSpPr>
          <p:nvPr/>
        </p:nvSpPr>
        <p:spPr bwMode="auto">
          <a:xfrm rot="13500000">
            <a:off x="3166454" y="2892747"/>
            <a:ext cx="809584" cy="983062"/>
          </a:xfrm>
          <a:custGeom>
            <a:avLst/>
            <a:gdLst>
              <a:gd name="T0" fmla="*/ 42 w 84"/>
              <a:gd name="T1" fmla="*/ 72 h 103"/>
              <a:gd name="T2" fmla="*/ 11 w 84"/>
              <a:gd name="T3" fmla="*/ 41 h 103"/>
              <a:gd name="T4" fmla="*/ 42 w 84"/>
              <a:gd name="T5" fmla="*/ 10 h 103"/>
              <a:gd name="T6" fmla="*/ 73 w 84"/>
              <a:gd name="T7" fmla="*/ 41 h 103"/>
              <a:gd name="T8" fmla="*/ 42 w 84"/>
              <a:gd name="T9" fmla="*/ 72 h 103"/>
              <a:gd name="T10" fmla="*/ 42 w 84"/>
              <a:gd name="T11" fmla="*/ 0 h 103"/>
              <a:gd name="T12" fmla="*/ 0 w 84"/>
              <a:gd name="T13" fmla="*/ 42 h 103"/>
              <a:gd name="T14" fmla="*/ 42 w 84"/>
              <a:gd name="T15" fmla="*/ 103 h 103"/>
              <a:gd name="T16" fmla="*/ 84 w 84"/>
              <a:gd name="T17" fmla="*/ 42 h 103"/>
              <a:gd name="T18" fmla="*/ 42 w 84"/>
              <a:gd name="T19" fmla="*/ 0 h 1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84" h="103">
                <a:moveTo>
                  <a:pt x="42" y="72"/>
                </a:moveTo>
                <a:cubicBezTo>
                  <a:pt x="25" y="72"/>
                  <a:pt x="11" y="58"/>
                  <a:pt x="11" y="41"/>
                </a:cubicBezTo>
                <a:cubicBezTo>
                  <a:pt x="11" y="24"/>
                  <a:pt x="25" y="10"/>
                  <a:pt x="42" y="10"/>
                </a:cubicBezTo>
                <a:cubicBezTo>
                  <a:pt x="59" y="10"/>
                  <a:pt x="73" y="24"/>
                  <a:pt x="73" y="41"/>
                </a:cubicBezTo>
                <a:cubicBezTo>
                  <a:pt x="73" y="58"/>
                  <a:pt x="59" y="72"/>
                  <a:pt x="42" y="72"/>
                </a:cubicBezTo>
                <a:close/>
                <a:moveTo>
                  <a:pt x="42" y="0"/>
                </a:moveTo>
                <a:cubicBezTo>
                  <a:pt x="19" y="0"/>
                  <a:pt x="0" y="19"/>
                  <a:pt x="0" y="42"/>
                </a:cubicBezTo>
                <a:cubicBezTo>
                  <a:pt x="0" y="66"/>
                  <a:pt x="20" y="81"/>
                  <a:pt x="42" y="103"/>
                </a:cubicBezTo>
                <a:cubicBezTo>
                  <a:pt x="64" y="81"/>
                  <a:pt x="84" y="66"/>
                  <a:pt x="84" y="42"/>
                </a:cubicBezTo>
                <a:cubicBezTo>
                  <a:pt x="84" y="19"/>
                  <a:pt x="65" y="0"/>
                  <a:pt x="4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685800"/>
            <a:endParaRPr lang="bg-BG" sz="1400">
              <a:solidFill>
                <a:prstClr val="black"/>
              </a:solidFill>
            </a:endParaRPr>
          </a:p>
        </p:txBody>
      </p:sp>
      <p:sp>
        <p:nvSpPr>
          <p:cNvPr id="11" name="Freeform 1614"/>
          <p:cNvSpPr>
            <a:spLocks noEditPoints="1"/>
          </p:cNvSpPr>
          <p:nvPr/>
        </p:nvSpPr>
        <p:spPr bwMode="auto">
          <a:xfrm rot="16200000">
            <a:off x="2996664" y="2093018"/>
            <a:ext cx="809584" cy="983062"/>
          </a:xfrm>
          <a:custGeom>
            <a:avLst/>
            <a:gdLst>
              <a:gd name="T0" fmla="*/ 42 w 84"/>
              <a:gd name="T1" fmla="*/ 72 h 103"/>
              <a:gd name="T2" fmla="*/ 11 w 84"/>
              <a:gd name="T3" fmla="*/ 41 h 103"/>
              <a:gd name="T4" fmla="*/ 42 w 84"/>
              <a:gd name="T5" fmla="*/ 10 h 103"/>
              <a:gd name="T6" fmla="*/ 73 w 84"/>
              <a:gd name="T7" fmla="*/ 41 h 103"/>
              <a:gd name="T8" fmla="*/ 42 w 84"/>
              <a:gd name="T9" fmla="*/ 72 h 103"/>
              <a:gd name="T10" fmla="*/ 42 w 84"/>
              <a:gd name="T11" fmla="*/ 0 h 103"/>
              <a:gd name="T12" fmla="*/ 0 w 84"/>
              <a:gd name="T13" fmla="*/ 42 h 103"/>
              <a:gd name="T14" fmla="*/ 42 w 84"/>
              <a:gd name="T15" fmla="*/ 103 h 103"/>
              <a:gd name="T16" fmla="*/ 84 w 84"/>
              <a:gd name="T17" fmla="*/ 42 h 103"/>
              <a:gd name="T18" fmla="*/ 42 w 84"/>
              <a:gd name="T19" fmla="*/ 0 h 1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84" h="103">
                <a:moveTo>
                  <a:pt x="42" y="72"/>
                </a:moveTo>
                <a:cubicBezTo>
                  <a:pt x="25" y="72"/>
                  <a:pt x="11" y="58"/>
                  <a:pt x="11" y="41"/>
                </a:cubicBezTo>
                <a:cubicBezTo>
                  <a:pt x="11" y="24"/>
                  <a:pt x="25" y="10"/>
                  <a:pt x="42" y="10"/>
                </a:cubicBezTo>
                <a:cubicBezTo>
                  <a:pt x="59" y="10"/>
                  <a:pt x="73" y="24"/>
                  <a:pt x="73" y="41"/>
                </a:cubicBezTo>
                <a:cubicBezTo>
                  <a:pt x="73" y="58"/>
                  <a:pt x="59" y="72"/>
                  <a:pt x="42" y="72"/>
                </a:cubicBezTo>
                <a:close/>
                <a:moveTo>
                  <a:pt x="42" y="0"/>
                </a:moveTo>
                <a:cubicBezTo>
                  <a:pt x="19" y="0"/>
                  <a:pt x="0" y="19"/>
                  <a:pt x="0" y="42"/>
                </a:cubicBezTo>
                <a:cubicBezTo>
                  <a:pt x="0" y="66"/>
                  <a:pt x="20" y="81"/>
                  <a:pt x="42" y="103"/>
                </a:cubicBezTo>
                <a:cubicBezTo>
                  <a:pt x="64" y="81"/>
                  <a:pt x="84" y="66"/>
                  <a:pt x="84" y="42"/>
                </a:cubicBezTo>
                <a:cubicBezTo>
                  <a:pt x="84" y="19"/>
                  <a:pt x="65" y="0"/>
                  <a:pt x="4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685800"/>
            <a:endParaRPr lang="bg-BG" sz="1400">
              <a:solidFill>
                <a:prstClr val="black"/>
              </a:solidFill>
            </a:endParaRPr>
          </a:p>
        </p:txBody>
      </p:sp>
      <p:sp>
        <p:nvSpPr>
          <p:cNvPr id="12" name="Freeform 1614"/>
          <p:cNvSpPr>
            <a:spLocks noEditPoints="1"/>
          </p:cNvSpPr>
          <p:nvPr/>
        </p:nvSpPr>
        <p:spPr bwMode="auto">
          <a:xfrm rot="18900000">
            <a:off x="3418160" y="1391998"/>
            <a:ext cx="809584" cy="983061"/>
          </a:xfrm>
          <a:custGeom>
            <a:avLst/>
            <a:gdLst>
              <a:gd name="T0" fmla="*/ 42 w 84"/>
              <a:gd name="T1" fmla="*/ 72 h 103"/>
              <a:gd name="T2" fmla="*/ 11 w 84"/>
              <a:gd name="T3" fmla="*/ 41 h 103"/>
              <a:gd name="T4" fmla="*/ 42 w 84"/>
              <a:gd name="T5" fmla="*/ 10 h 103"/>
              <a:gd name="T6" fmla="*/ 73 w 84"/>
              <a:gd name="T7" fmla="*/ 41 h 103"/>
              <a:gd name="T8" fmla="*/ 42 w 84"/>
              <a:gd name="T9" fmla="*/ 72 h 103"/>
              <a:gd name="T10" fmla="*/ 42 w 84"/>
              <a:gd name="T11" fmla="*/ 0 h 103"/>
              <a:gd name="T12" fmla="*/ 0 w 84"/>
              <a:gd name="T13" fmla="*/ 42 h 103"/>
              <a:gd name="T14" fmla="*/ 42 w 84"/>
              <a:gd name="T15" fmla="*/ 103 h 103"/>
              <a:gd name="T16" fmla="*/ 84 w 84"/>
              <a:gd name="T17" fmla="*/ 42 h 103"/>
              <a:gd name="T18" fmla="*/ 42 w 84"/>
              <a:gd name="T19" fmla="*/ 0 h 1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84" h="103">
                <a:moveTo>
                  <a:pt x="42" y="72"/>
                </a:moveTo>
                <a:cubicBezTo>
                  <a:pt x="25" y="72"/>
                  <a:pt x="11" y="58"/>
                  <a:pt x="11" y="41"/>
                </a:cubicBezTo>
                <a:cubicBezTo>
                  <a:pt x="11" y="24"/>
                  <a:pt x="25" y="10"/>
                  <a:pt x="42" y="10"/>
                </a:cubicBezTo>
                <a:cubicBezTo>
                  <a:pt x="59" y="10"/>
                  <a:pt x="73" y="24"/>
                  <a:pt x="73" y="41"/>
                </a:cubicBezTo>
                <a:cubicBezTo>
                  <a:pt x="73" y="58"/>
                  <a:pt x="59" y="72"/>
                  <a:pt x="42" y="72"/>
                </a:cubicBezTo>
                <a:close/>
                <a:moveTo>
                  <a:pt x="42" y="0"/>
                </a:moveTo>
                <a:cubicBezTo>
                  <a:pt x="19" y="0"/>
                  <a:pt x="0" y="19"/>
                  <a:pt x="0" y="42"/>
                </a:cubicBezTo>
                <a:cubicBezTo>
                  <a:pt x="0" y="66"/>
                  <a:pt x="20" y="81"/>
                  <a:pt x="42" y="103"/>
                </a:cubicBezTo>
                <a:cubicBezTo>
                  <a:pt x="64" y="81"/>
                  <a:pt x="84" y="66"/>
                  <a:pt x="84" y="42"/>
                </a:cubicBezTo>
                <a:cubicBezTo>
                  <a:pt x="84" y="19"/>
                  <a:pt x="65" y="0"/>
                  <a:pt x="4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685800"/>
            <a:endParaRPr lang="bg-BG" sz="1400">
              <a:solidFill>
                <a:prstClr val="black"/>
              </a:solidFill>
            </a:endParaRPr>
          </a:p>
        </p:txBody>
      </p:sp>
      <p:sp>
        <p:nvSpPr>
          <p:cNvPr id="13" name="Freeform 1614"/>
          <p:cNvSpPr>
            <a:spLocks noEditPoints="1"/>
          </p:cNvSpPr>
          <p:nvPr/>
        </p:nvSpPr>
        <p:spPr bwMode="auto">
          <a:xfrm>
            <a:off x="4159111" y="1107630"/>
            <a:ext cx="809584" cy="983061"/>
          </a:xfrm>
          <a:custGeom>
            <a:avLst/>
            <a:gdLst>
              <a:gd name="T0" fmla="*/ 42 w 84"/>
              <a:gd name="T1" fmla="*/ 72 h 103"/>
              <a:gd name="T2" fmla="*/ 11 w 84"/>
              <a:gd name="T3" fmla="*/ 41 h 103"/>
              <a:gd name="T4" fmla="*/ 42 w 84"/>
              <a:gd name="T5" fmla="*/ 10 h 103"/>
              <a:gd name="T6" fmla="*/ 73 w 84"/>
              <a:gd name="T7" fmla="*/ 41 h 103"/>
              <a:gd name="T8" fmla="*/ 42 w 84"/>
              <a:gd name="T9" fmla="*/ 72 h 103"/>
              <a:gd name="T10" fmla="*/ 42 w 84"/>
              <a:gd name="T11" fmla="*/ 0 h 103"/>
              <a:gd name="T12" fmla="*/ 0 w 84"/>
              <a:gd name="T13" fmla="*/ 42 h 103"/>
              <a:gd name="T14" fmla="*/ 42 w 84"/>
              <a:gd name="T15" fmla="*/ 103 h 103"/>
              <a:gd name="T16" fmla="*/ 84 w 84"/>
              <a:gd name="T17" fmla="*/ 42 h 103"/>
              <a:gd name="T18" fmla="*/ 42 w 84"/>
              <a:gd name="T19" fmla="*/ 0 h 1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84" h="103">
                <a:moveTo>
                  <a:pt x="42" y="72"/>
                </a:moveTo>
                <a:cubicBezTo>
                  <a:pt x="25" y="72"/>
                  <a:pt x="11" y="58"/>
                  <a:pt x="11" y="41"/>
                </a:cubicBezTo>
                <a:cubicBezTo>
                  <a:pt x="11" y="24"/>
                  <a:pt x="25" y="10"/>
                  <a:pt x="42" y="10"/>
                </a:cubicBezTo>
                <a:cubicBezTo>
                  <a:pt x="59" y="10"/>
                  <a:pt x="73" y="24"/>
                  <a:pt x="73" y="41"/>
                </a:cubicBezTo>
                <a:cubicBezTo>
                  <a:pt x="73" y="58"/>
                  <a:pt x="59" y="72"/>
                  <a:pt x="42" y="72"/>
                </a:cubicBezTo>
                <a:close/>
                <a:moveTo>
                  <a:pt x="42" y="0"/>
                </a:moveTo>
                <a:cubicBezTo>
                  <a:pt x="19" y="0"/>
                  <a:pt x="0" y="19"/>
                  <a:pt x="0" y="42"/>
                </a:cubicBezTo>
                <a:cubicBezTo>
                  <a:pt x="0" y="66"/>
                  <a:pt x="20" y="81"/>
                  <a:pt x="42" y="103"/>
                </a:cubicBezTo>
                <a:cubicBezTo>
                  <a:pt x="64" y="81"/>
                  <a:pt x="84" y="66"/>
                  <a:pt x="84" y="42"/>
                </a:cubicBezTo>
                <a:cubicBezTo>
                  <a:pt x="84" y="19"/>
                  <a:pt x="65" y="0"/>
                  <a:pt x="42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685800"/>
            <a:endParaRPr lang="bg-BG" sz="1400">
              <a:solidFill>
                <a:prstClr val="black"/>
              </a:solidFill>
            </a:endParaRPr>
          </a:p>
        </p:txBody>
      </p:sp>
      <p:sp>
        <p:nvSpPr>
          <p:cNvPr id="14" name="Freeform 1614"/>
          <p:cNvSpPr>
            <a:spLocks noEditPoints="1"/>
          </p:cNvSpPr>
          <p:nvPr/>
        </p:nvSpPr>
        <p:spPr bwMode="auto">
          <a:xfrm rot="2700000" flipH="1">
            <a:off x="4903076" y="1391998"/>
            <a:ext cx="809584" cy="983061"/>
          </a:xfrm>
          <a:custGeom>
            <a:avLst/>
            <a:gdLst>
              <a:gd name="T0" fmla="*/ 42 w 84"/>
              <a:gd name="T1" fmla="*/ 72 h 103"/>
              <a:gd name="T2" fmla="*/ 11 w 84"/>
              <a:gd name="T3" fmla="*/ 41 h 103"/>
              <a:gd name="T4" fmla="*/ 42 w 84"/>
              <a:gd name="T5" fmla="*/ 10 h 103"/>
              <a:gd name="T6" fmla="*/ 73 w 84"/>
              <a:gd name="T7" fmla="*/ 41 h 103"/>
              <a:gd name="T8" fmla="*/ 42 w 84"/>
              <a:gd name="T9" fmla="*/ 72 h 103"/>
              <a:gd name="T10" fmla="*/ 42 w 84"/>
              <a:gd name="T11" fmla="*/ 0 h 103"/>
              <a:gd name="T12" fmla="*/ 0 w 84"/>
              <a:gd name="T13" fmla="*/ 42 h 103"/>
              <a:gd name="T14" fmla="*/ 42 w 84"/>
              <a:gd name="T15" fmla="*/ 103 h 103"/>
              <a:gd name="T16" fmla="*/ 84 w 84"/>
              <a:gd name="T17" fmla="*/ 42 h 103"/>
              <a:gd name="T18" fmla="*/ 42 w 84"/>
              <a:gd name="T19" fmla="*/ 0 h 1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84" h="103">
                <a:moveTo>
                  <a:pt x="42" y="72"/>
                </a:moveTo>
                <a:cubicBezTo>
                  <a:pt x="25" y="72"/>
                  <a:pt x="11" y="58"/>
                  <a:pt x="11" y="41"/>
                </a:cubicBezTo>
                <a:cubicBezTo>
                  <a:pt x="11" y="24"/>
                  <a:pt x="25" y="10"/>
                  <a:pt x="42" y="10"/>
                </a:cubicBezTo>
                <a:cubicBezTo>
                  <a:pt x="59" y="10"/>
                  <a:pt x="73" y="24"/>
                  <a:pt x="73" y="41"/>
                </a:cubicBezTo>
                <a:cubicBezTo>
                  <a:pt x="73" y="58"/>
                  <a:pt x="59" y="72"/>
                  <a:pt x="42" y="72"/>
                </a:cubicBezTo>
                <a:close/>
                <a:moveTo>
                  <a:pt x="42" y="0"/>
                </a:moveTo>
                <a:cubicBezTo>
                  <a:pt x="19" y="0"/>
                  <a:pt x="0" y="19"/>
                  <a:pt x="0" y="42"/>
                </a:cubicBezTo>
                <a:cubicBezTo>
                  <a:pt x="0" y="66"/>
                  <a:pt x="20" y="81"/>
                  <a:pt x="42" y="103"/>
                </a:cubicBezTo>
                <a:cubicBezTo>
                  <a:pt x="64" y="81"/>
                  <a:pt x="84" y="66"/>
                  <a:pt x="84" y="42"/>
                </a:cubicBezTo>
                <a:cubicBezTo>
                  <a:pt x="84" y="19"/>
                  <a:pt x="65" y="0"/>
                  <a:pt x="42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685800"/>
            <a:endParaRPr lang="bg-BG" sz="1400">
              <a:solidFill>
                <a:prstClr val="black"/>
              </a:solidFill>
            </a:endParaRPr>
          </a:p>
        </p:txBody>
      </p:sp>
      <p:sp>
        <p:nvSpPr>
          <p:cNvPr id="15" name="Freeform 1614"/>
          <p:cNvSpPr>
            <a:spLocks noEditPoints="1"/>
          </p:cNvSpPr>
          <p:nvPr/>
        </p:nvSpPr>
        <p:spPr bwMode="auto">
          <a:xfrm rot="5400000">
            <a:off x="5321559" y="2093017"/>
            <a:ext cx="809584" cy="983062"/>
          </a:xfrm>
          <a:custGeom>
            <a:avLst/>
            <a:gdLst>
              <a:gd name="T0" fmla="*/ 42 w 84"/>
              <a:gd name="T1" fmla="*/ 72 h 103"/>
              <a:gd name="T2" fmla="*/ 11 w 84"/>
              <a:gd name="T3" fmla="*/ 41 h 103"/>
              <a:gd name="T4" fmla="*/ 42 w 84"/>
              <a:gd name="T5" fmla="*/ 10 h 103"/>
              <a:gd name="T6" fmla="*/ 73 w 84"/>
              <a:gd name="T7" fmla="*/ 41 h 103"/>
              <a:gd name="T8" fmla="*/ 42 w 84"/>
              <a:gd name="T9" fmla="*/ 72 h 103"/>
              <a:gd name="T10" fmla="*/ 42 w 84"/>
              <a:gd name="T11" fmla="*/ 0 h 103"/>
              <a:gd name="T12" fmla="*/ 0 w 84"/>
              <a:gd name="T13" fmla="*/ 42 h 103"/>
              <a:gd name="T14" fmla="*/ 42 w 84"/>
              <a:gd name="T15" fmla="*/ 103 h 103"/>
              <a:gd name="T16" fmla="*/ 84 w 84"/>
              <a:gd name="T17" fmla="*/ 42 h 103"/>
              <a:gd name="T18" fmla="*/ 42 w 84"/>
              <a:gd name="T19" fmla="*/ 0 h 1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84" h="103">
                <a:moveTo>
                  <a:pt x="42" y="72"/>
                </a:moveTo>
                <a:cubicBezTo>
                  <a:pt x="25" y="72"/>
                  <a:pt x="11" y="58"/>
                  <a:pt x="11" y="41"/>
                </a:cubicBezTo>
                <a:cubicBezTo>
                  <a:pt x="11" y="24"/>
                  <a:pt x="25" y="10"/>
                  <a:pt x="42" y="10"/>
                </a:cubicBezTo>
                <a:cubicBezTo>
                  <a:pt x="59" y="10"/>
                  <a:pt x="73" y="24"/>
                  <a:pt x="73" y="41"/>
                </a:cubicBezTo>
                <a:cubicBezTo>
                  <a:pt x="73" y="58"/>
                  <a:pt x="59" y="72"/>
                  <a:pt x="42" y="72"/>
                </a:cubicBezTo>
                <a:close/>
                <a:moveTo>
                  <a:pt x="42" y="0"/>
                </a:moveTo>
                <a:cubicBezTo>
                  <a:pt x="19" y="0"/>
                  <a:pt x="0" y="19"/>
                  <a:pt x="0" y="42"/>
                </a:cubicBezTo>
                <a:cubicBezTo>
                  <a:pt x="0" y="66"/>
                  <a:pt x="20" y="81"/>
                  <a:pt x="42" y="103"/>
                </a:cubicBezTo>
                <a:cubicBezTo>
                  <a:pt x="64" y="81"/>
                  <a:pt x="84" y="66"/>
                  <a:pt x="84" y="42"/>
                </a:cubicBezTo>
                <a:cubicBezTo>
                  <a:pt x="84" y="19"/>
                  <a:pt x="65" y="0"/>
                  <a:pt x="4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685800"/>
            <a:endParaRPr lang="bg-BG" sz="1400">
              <a:solidFill>
                <a:prstClr val="black"/>
              </a:solidFill>
            </a:endParaRPr>
          </a:p>
        </p:txBody>
      </p:sp>
      <p:sp>
        <p:nvSpPr>
          <p:cNvPr id="16" name="Freeform 1614"/>
          <p:cNvSpPr>
            <a:spLocks noEditPoints="1"/>
          </p:cNvSpPr>
          <p:nvPr/>
        </p:nvSpPr>
        <p:spPr bwMode="auto">
          <a:xfrm rot="8100000" flipH="1">
            <a:off x="5163111" y="2892745"/>
            <a:ext cx="809584" cy="983062"/>
          </a:xfrm>
          <a:custGeom>
            <a:avLst/>
            <a:gdLst>
              <a:gd name="T0" fmla="*/ 42 w 84"/>
              <a:gd name="T1" fmla="*/ 72 h 103"/>
              <a:gd name="T2" fmla="*/ 11 w 84"/>
              <a:gd name="T3" fmla="*/ 41 h 103"/>
              <a:gd name="T4" fmla="*/ 42 w 84"/>
              <a:gd name="T5" fmla="*/ 10 h 103"/>
              <a:gd name="T6" fmla="*/ 73 w 84"/>
              <a:gd name="T7" fmla="*/ 41 h 103"/>
              <a:gd name="T8" fmla="*/ 42 w 84"/>
              <a:gd name="T9" fmla="*/ 72 h 103"/>
              <a:gd name="T10" fmla="*/ 42 w 84"/>
              <a:gd name="T11" fmla="*/ 0 h 103"/>
              <a:gd name="T12" fmla="*/ 0 w 84"/>
              <a:gd name="T13" fmla="*/ 42 h 103"/>
              <a:gd name="T14" fmla="*/ 42 w 84"/>
              <a:gd name="T15" fmla="*/ 103 h 103"/>
              <a:gd name="T16" fmla="*/ 84 w 84"/>
              <a:gd name="T17" fmla="*/ 42 h 103"/>
              <a:gd name="T18" fmla="*/ 42 w 84"/>
              <a:gd name="T19" fmla="*/ 0 h 1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84" h="103">
                <a:moveTo>
                  <a:pt x="42" y="72"/>
                </a:moveTo>
                <a:cubicBezTo>
                  <a:pt x="25" y="72"/>
                  <a:pt x="11" y="58"/>
                  <a:pt x="11" y="41"/>
                </a:cubicBezTo>
                <a:cubicBezTo>
                  <a:pt x="11" y="24"/>
                  <a:pt x="25" y="10"/>
                  <a:pt x="42" y="10"/>
                </a:cubicBezTo>
                <a:cubicBezTo>
                  <a:pt x="59" y="10"/>
                  <a:pt x="73" y="24"/>
                  <a:pt x="73" y="41"/>
                </a:cubicBezTo>
                <a:cubicBezTo>
                  <a:pt x="73" y="58"/>
                  <a:pt x="59" y="72"/>
                  <a:pt x="42" y="72"/>
                </a:cubicBezTo>
                <a:close/>
                <a:moveTo>
                  <a:pt x="42" y="0"/>
                </a:moveTo>
                <a:cubicBezTo>
                  <a:pt x="19" y="0"/>
                  <a:pt x="0" y="19"/>
                  <a:pt x="0" y="42"/>
                </a:cubicBezTo>
                <a:cubicBezTo>
                  <a:pt x="0" y="66"/>
                  <a:pt x="20" y="81"/>
                  <a:pt x="42" y="103"/>
                </a:cubicBezTo>
                <a:cubicBezTo>
                  <a:pt x="64" y="81"/>
                  <a:pt x="84" y="66"/>
                  <a:pt x="84" y="42"/>
                </a:cubicBezTo>
                <a:cubicBezTo>
                  <a:pt x="84" y="19"/>
                  <a:pt x="65" y="0"/>
                  <a:pt x="4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685800"/>
            <a:endParaRPr lang="bg-BG" sz="1400">
              <a:solidFill>
                <a:prstClr val="black"/>
              </a:solidFill>
            </a:endParaRPr>
          </a:p>
        </p:txBody>
      </p:sp>
      <p:pic>
        <p:nvPicPr>
          <p:cNvPr id="38" name="Picture 4" descr="C:\Users\BUHOLZFA\Downloads\noun_169409_cc.pn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723"/>
          <a:stretch/>
        </p:blipFill>
        <p:spPr bwMode="auto">
          <a:xfrm>
            <a:off x="3271674" y="3245766"/>
            <a:ext cx="464369" cy="3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2" descr="C:\Users\BUHOLZFA\Downloads\noun_213624_cc.pn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222"/>
          <a:stretch/>
        </p:blipFill>
        <p:spPr bwMode="auto">
          <a:xfrm>
            <a:off x="4237149" y="1219200"/>
            <a:ext cx="662455" cy="3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7" descr="C:\Users\BUHOLZFA\Downloads\noun_688426_cc.pn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886"/>
          <a:stretch/>
        </p:blipFill>
        <p:spPr bwMode="auto">
          <a:xfrm>
            <a:off x="2997948" y="2301316"/>
            <a:ext cx="599188" cy="50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3" descr="C:\Users\BUHOLZFA\Downloads\noun_572109_cc.png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106"/>
          <a:stretch/>
        </p:blipFill>
        <p:spPr bwMode="auto">
          <a:xfrm>
            <a:off x="5583437" y="2401971"/>
            <a:ext cx="477714" cy="3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3" descr="C:\Users\BUHOLZFA\Downloads\noun_1051863_cc.png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798"/>
          <a:stretch/>
        </p:blipFill>
        <p:spPr bwMode="auto">
          <a:xfrm>
            <a:off x="5351454" y="3200435"/>
            <a:ext cx="559574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586" name="Picture 2" descr="C:\Users\BUHOLZFA\Downloads\noun_production_1017784.png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527"/>
          <a:stretch/>
        </p:blipFill>
        <p:spPr bwMode="auto">
          <a:xfrm>
            <a:off x="3467243" y="1562897"/>
            <a:ext cx="554022" cy="4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5" descr="C:\Users\BUHOLZFA\Downloads\noun_1182981_cc.png"/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314"/>
          <a:stretch/>
        </p:blipFill>
        <p:spPr bwMode="auto">
          <a:xfrm>
            <a:off x="5106767" y="1552899"/>
            <a:ext cx="572929" cy="4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587" name="Picture 3" descr="C:\Users\BUHOLZFA\Downloads\noun_Dream_971099.png"/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098"/>
          <a:stretch/>
        </p:blipFill>
        <p:spPr bwMode="auto">
          <a:xfrm>
            <a:off x="-124024" y="0"/>
            <a:ext cx="1950107" cy="1515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Freeform 5"/>
          <p:cNvSpPr>
            <a:spLocks noEditPoints="1"/>
          </p:cNvSpPr>
          <p:nvPr/>
        </p:nvSpPr>
        <p:spPr bwMode="auto">
          <a:xfrm>
            <a:off x="4401688" y="2637305"/>
            <a:ext cx="333376" cy="333374"/>
          </a:xfrm>
          <a:custGeom>
            <a:avLst/>
            <a:gdLst>
              <a:gd name="T0" fmla="*/ 1308 w 1648"/>
              <a:gd name="T1" fmla="*/ 480 h 1642"/>
              <a:gd name="T2" fmla="*/ 828 w 1648"/>
              <a:gd name="T3" fmla="*/ 960 h 1642"/>
              <a:gd name="T4" fmla="*/ 348 w 1648"/>
              <a:gd name="T5" fmla="*/ 480 h 1642"/>
              <a:gd name="T6" fmla="*/ 828 w 1648"/>
              <a:gd name="T7" fmla="*/ 0 h 1642"/>
              <a:gd name="T8" fmla="*/ 1308 w 1648"/>
              <a:gd name="T9" fmla="*/ 480 h 1642"/>
              <a:gd name="T10" fmla="*/ 1224 w 1648"/>
              <a:gd name="T11" fmla="*/ 983 h 1642"/>
              <a:gd name="T12" fmla="*/ 828 w 1648"/>
              <a:gd name="T13" fmla="*/ 1120 h 1642"/>
              <a:gd name="T14" fmla="*/ 428 w 1648"/>
              <a:gd name="T15" fmla="*/ 980 h 1642"/>
              <a:gd name="T16" fmla="*/ 0 w 1648"/>
              <a:gd name="T17" fmla="*/ 1642 h 1642"/>
              <a:gd name="T18" fmla="*/ 1648 w 1648"/>
              <a:gd name="T19" fmla="*/ 1642 h 1642"/>
              <a:gd name="T20" fmla="*/ 1224 w 1648"/>
              <a:gd name="T21" fmla="*/ 983 h 16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648" h="1642">
                <a:moveTo>
                  <a:pt x="1308" y="480"/>
                </a:moveTo>
                <a:cubicBezTo>
                  <a:pt x="1308" y="745"/>
                  <a:pt x="1093" y="960"/>
                  <a:pt x="828" y="960"/>
                </a:cubicBezTo>
                <a:cubicBezTo>
                  <a:pt x="563" y="960"/>
                  <a:pt x="348" y="745"/>
                  <a:pt x="348" y="480"/>
                </a:cubicBezTo>
                <a:cubicBezTo>
                  <a:pt x="348" y="215"/>
                  <a:pt x="563" y="0"/>
                  <a:pt x="828" y="0"/>
                </a:cubicBezTo>
                <a:cubicBezTo>
                  <a:pt x="1093" y="0"/>
                  <a:pt x="1308" y="215"/>
                  <a:pt x="1308" y="480"/>
                </a:cubicBezTo>
                <a:close/>
                <a:moveTo>
                  <a:pt x="1224" y="983"/>
                </a:moveTo>
                <a:cubicBezTo>
                  <a:pt x="1113" y="1071"/>
                  <a:pt x="974" y="1120"/>
                  <a:pt x="828" y="1120"/>
                </a:cubicBezTo>
                <a:cubicBezTo>
                  <a:pt x="681" y="1120"/>
                  <a:pt x="541" y="1070"/>
                  <a:pt x="428" y="980"/>
                </a:cubicBezTo>
                <a:cubicBezTo>
                  <a:pt x="132" y="1088"/>
                  <a:pt x="0" y="1469"/>
                  <a:pt x="0" y="1642"/>
                </a:cubicBezTo>
                <a:cubicBezTo>
                  <a:pt x="1648" y="1642"/>
                  <a:pt x="1648" y="1642"/>
                  <a:pt x="1648" y="1642"/>
                </a:cubicBezTo>
                <a:cubicBezTo>
                  <a:pt x="1648" y="1470"/>
                  <a:pt x="1515" y="1093"/>
                  <a:pt x="1224" y="983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101600" tIns="50800" rIns="101600" bIns="50800" numCol="1" anchor="t" anchorCtr="0" compatLnSpc="1">
            <a:prstTxWarp prst="textNoShape">
              <a:avLst/>
            </a:prstTxWarp>
          </a:bodyPr>
          <a:lstStyle/>
          <a:p>
            <a:pPr defTabSz="685800"/>
            <a:endParaRPr lang="bg-BG" sz="156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09973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0" hangingPunct="0">
              <a:defRPr/>
            </a:pPr>
            <a:r>
              <a:rPr lang="ru-RU" kern="0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Карты процессов для решения проблем</a:t>
            </a:r>
            <a:endParaRPr lang="de-DE" kern="0" dirty="0">
              <a:solidFill>
                <a:srgbClr val="FFFFFF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35627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8B50A62-5D0F-4BF5-A546-0EE6660368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07850"/>
              </p:ext>
            </p:extLst>
          </p:nvPr>
        </p:nvGraphicFramePr>
        <p:xfrm>
          <a:off x="245192" y="921773"/>
          <a:ext cx="8655460" cy="33850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938524">
                  <a:extLst>
                    <a:ext uri="{9D8B030D-6E8A-4147-A177-3AD203B41FA5}">
                      <a16:colId xmlns:a16="http://schemas.microsoft.com/office/drawing/2014/main" val="335030987"/>
                    </a:ext>
                  </a:extLst>
                </a:gridCol>
                <a:gridCol w="938524">
                  <a:extLst>
                    <a:ext uri="{9D8B030D-6E8A-4147-A177-3AD203B41FA5}">
                      <a16:colId xmlns:a16="http://schemas.microsoft.com/office/drawing/2014/main" val="1642925602"/>
                    </a:ext>
                  </a:extLst>
                </a:gridCol>
                <a:gridCol w="4477663">
                  <a:extLst>
                    <a:ext uri="{9D8B030D-6E8A-4147-A177-3AD203B41FA5}">
                      <a16:colId xmlns:a16="http://schemas.microsoft.com/office/drawing/2014/main" val="1736078883"/>
                    </a:ext>
                  </a:extLst>
                </a:gridCol>
                <a:gridCol w="2300749">
                  <a:extLst>
                    <a:ext uri="{9D8B030D-6E8A-4147-A177-3AD203B41FA5}">
                      <a16:colId xmlns:a16="http://schemas.microsoft.com/office/drawing/2014/main" val="3903543586"/>
                    </a:ext>
                  </a:extLst>
                </a:gridCol>
              </a:tblGrid>
              <a:tr h="35857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Version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Description of Version</a:t>
                      </a:r>
                    </a:p>
                    <a:p>
                      <a:pPr algn="ctr"/>
                      <a:r>
                        <a:rPr lang="en-US" b="0" dirty="0"/>
                        <a:t>Important changes since previous version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Author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2183951"/>
                  </a:ext>
                </a:extLst>
              </a:tr>
              <a:tr h="35857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6 Dec 2018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First version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aseline="0" dirty="0"/>
                        <a:t>Ekaterina Grigoreva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585869"/>
                  </a:ext>
                </a:extLst>
              </a:tr>
              <a:tr h="35857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/>
                        <a:t>2.0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13</a:t>
                      </a:r>
                      <a:r>
                        <a:rPr lang="ru-RU" sz="1100" dirty="0"/>
                        <a:t> </a:t>
                      </a:r>
                      <a:r>
                        <a:rPr lang="en-US" sz="1100" dirty="0"/>
                        <a:t>Jan 2019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Added</a:t>
                      </a:r>
                      <a:r>
                        <a:rPr lang="en-US" sz="1100" baseline="0" dirty="0"/>
                        <a:t> the </a:t>
                      </a:r>
                      <a:r>
                        <a:rPr lang="en-US" sz="1100" dirty="0"/>
                        <a:t>Process Map visualization</a:t>
                      </a:r>
                      <a:r>
                        <a:rPr lang="en-US" sz="1100" baseline="0" dirty="0"/>
                        <a:t> chapter;</a:t>
                      </a:r>
                    </a:p>
                    <a:p>
                      <a:r>
                        <a:rPr lang="en-US" sz="1100" baseline="0" dirty="0"/>
                        <a:t>Added the example of PM changes; </a:t>
                      </a:r>
                    </a:p>
                    <a:p>
                      <a:r>
                        <a:rPr lang="en-US" sz="1100" baseline="0" dirty="0"/>
                        <a:t>Added slides 34-35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aseline="0" dirty="0"/>
                        <a:t>Ekaterina Grigoreva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837162"/>
                  </a:ext>
                </a:extLst>
              </a:tr>
              <a:tr h="35857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3.0</a:t>
                      </a:r>
                      <a:endParaRPr lang="ru-RU" sz="11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16 May</a:t>
                      </a:r>
                      <a:r>
                        <a:rPr lang="en-US" sz="1100" baseline="0" dirty="0"/>
                        <a:t> 2019</a:t>
                      </a:r>
                      <a:endParaRPr lang="ru-RU" sz="11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Create short version</a:t>
                      </a:r>
                      <a:endParaRPr lang="ru-RU" sz="11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Viktoriya</a:t>
                      </a:r>
                      <a:r>
                        <a:rPr lang="en-US" sz="1100" baseline="0" dirty="0"/>
                        <a:t> Kovtun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584830"/>
                  </a:ext>
                </a:extLst>
              </a:tr>
              <a:tr h="35857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3.1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14 June 2019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 err="1"/>
                        <a:t>Transfered</a:t>
                      </a:r>
                      <a:r>
                        <a:rPr lang="en-US" sz="1100" dirty="0"/>
                        <a:t> to new template</a:t>
                      </a:r>
                    </a:p>
                    <a:p>
                      <a:r>
                        <a:rPr lang="en-US" sz="1100" dirty="0"/>
                        <a:t>Content reviewed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Viktoriya</a:t>
                      </a:r>
                      <a:r>
                        <a:rPr lang="en-US" sz="1100" baseline="0" dirty="0"/>
                        <a:t> Kovtun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875580"/>
                  </a:ext>
                </a:extLst>
              </a:tr>
              <a:tr h="358570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4.0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/>
                        <a:t>4 </a:t>
                      </a:r>
                      <a:r>
                        <a:rPr lang="en-US" sz="1100" dirty="0"/>
                        <a:t>Sep 2019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Перевод на русский язык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Kateryna Savchenko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183861"/>
                  </a:ext>
                </a:extLst>
              </a:tr>
              <a:tr h="358570"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9368002"/>
                  </a:ext>
                </a:extLst>
              </a:tr>
              <a:tr h="358570"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7411240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6BAA102B-0F27-47E6-96A7-D308D9622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575" y="148645"/>
            <a:ext cx="7971511" cy="327025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l"/>
            <a:r>
              <a:rPr lang="en-US" dirty="0">
                <a:solidFill>
                  <a:srgbClr val="C3002F"/>
                </a:solidFill>
              </a:rPr>
              <a:t>DOCUMENT </a:t>
            </a:r>
            <a:r>
              <a:rPr lang="en-US" b="1" dirty="0">
                <a:solidFill>
                  <a:srgbClr val="C3002F"/>
                </a:solidFill>
              </a:rPr>
              <a:t>HISTORY</a:t>
            </a:r>
          </a:p>
        </p:txBody>
      </p:sp>
    </p:spTree>
    <p:extLst>
      <p:ext uri="{BB962C8B-B14F-4D97-AF65-F5344CB8AC3E}">
        <p14:creationId xmlns:p14="http://schemas.microsoft.com/office/powerpoint/2010/main" val="299505594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ma1">
  <a:themeElements>
    <a:clrScheme name="ABI">
      <a:dk1>
        <a:sysClr val="windowText" lastClr="000000"/>
      </a:dk1>
      <a:lt1>
        <a:sysClr val="window" lastClr="FFFFFF"/>
      </a:lt1>
      <a:dk2>
        <a:srgbClr val="C00000"/>
      </a:dk2>
      <a:lt2>
        <a:srgbClr val="45120F"/>
      </a:lt2>
      <a:accent1>
        <a:srgbClr val="F39C1F"/>
      </a:accent1>
      <a:accent2>
        <a:srgbClr val="DA5926"/>
      </a:accent2>
      <a:accent3>
        <a:srgbClr val="C33827"/>
      </a:accent3>
      <a:accent4>
        <a:srgbClr val="89231A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1" id="{53425C34-5564-4AE3-9CC5-02DADA051E59}" vid="{7F6D4D77-C8A8-4745-B511-0B95D3F85E7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k8f0bf7a78da4ddd9d29550ac2181e81 xmlns="a2254927-a6a9-48a6-87b4-84eeb616e527">
      <Terms xmlns="http://schemas.microsoft.com/office/infopath/2007/PartnerControls">
        <TermInfo xmlns="http://schemas.microsoft.com/office/infopath/2007/PartnerControls">
          <TermName xmlns="http://schemas.microsoft.com/office/infopath/2007/PartnerControls">VPO Europe</TermName>
          <TermId xmlns="http://schemas.microsoft.com/office/infopath/2007/PartnerControls">ceffc18c-3526-46ab-b87b-e6db1a739486</TermId>
        </TermInfo>
      </Terms>
    </k8f0bf7a78da4ddd9d29550ac2181e81>
    <ob8adc44a0fc42d1a992442f2b31674a xmlns="a2254927-a6a9-48a6-87b4-84eeb616e527">
      <Terms xmlns="http://schemas.microsoft.com/office/infopath/2007/PartnerControls"/>
    </ob8adc44a0fc42d1a992442f2b31674a>
    <p89cbde0cf8e4fde8909c47f3329b0c9 xmlns="a2254927-a6a9-48a6-87b4-84eeb616e527">
      <Terms xmlns="http://schemas.microsoft.com/office/infopath/2007/PartnerControls">
        <TermInfo xmlns="http://schemas.microsoft.com/office/infopath/2007/PartnerControls">
          <TermName xmlns="http://schemas.microsoft.com/office/infopath/2007/PartnerControls">General</TermName>
          <TermId xmlns="http://schemas.microsoft.com/office/infopath/2007/PartnerControls">1fa46836-3cf9-404e-a722-bf6deca47cbb</TermId>
        </TermInfo>
      </Terms>
    </p89cbde0cf8e4fde8909c47f3329b0c9>
    <TaxKeywordTaxHTField xmlns="a2254927-a6a9-48a6-87b4-84eeb616e527">
      <Terms xmlns="http://schemas.microsoft.com/office/infopath/2007/PartnerControls"/>
    </TaxKeywordTaxHTField>
    <TaxCatchAll xmlns="a2254927-a6a9-48a6-87b4-84eeb616e527">
      <Value>476</Value>
      <Value>474</Value>
    </TaxCatchAll>
    <kb304a86f78844c2bd4575e2083a417c xmlns="a2254927-a6a9-48a6-87b4-84eeb616e527">
      <Terms xmlns="http://schemas.microsoft.com/office/infopath/2007/PartnerControls"/>
    </kb304a86f78844c2bd4575e2083a417c>
    <_dlc_DocId xmlns="a2254927-a6a9-48a6-87b4-84eeb616e527">ZESP-854245628-5854</_dlc_DocId>
    <_dlc_DocIdUrl xmlns="a2254927-a6a9-48a6-87b4-84eeb616e527">
      <Url>https://anheuserbuschinbev.sharepoint.com/teams/Europe-Supply/VPO%20Europe/_layouts/15/DocIdRedir.aspx?ID=ZESP-854245628-5854</Url>
      <Description>ZESP-854245628-5854</Description>
    </_dlc_DocIdUrl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ESP Document" ma:contentTypeID="0x010100F31F36849F227A4D867DE3C73873074F0070340AE5CC97EF4D86A41D7C98CDFA85" ma:contentTypeVersion="24" ma:contentTypeDescription="" ma:contentTypeScope="" ma:versionID="11214d55e3ce01359c2d000079e2cdfe">
  <xsd:schema xmlns:xsd="http://www.w3.org/2001/XMLSchema" xmlns:xs="http://www.w3.org/2001/XMLSchema" xmlns:p="http://schemas.microsoft.com/office/2006/metadata/properties" xmlns:ns2="a2254927-a6a9-48a6-87b4-84eeb616e527" xmlns:ns3="34ca029f-c5e6-439b-97e6-d67350944fe7" targetNamespace="http://schemas.microsoft.com/office/2006/metadata/properties" ma:root="true" ma:fieldsID="41aa1914c99adfa2e42337e3e1a39e8d" ns2:_="" ns3:_="">
    <xsd:import namespace="a2254927-a6a9-48a6-87b4-84eeb616e527"/>
    <xsd:import namespace="34ca029f-c5e6-439b-97e6-d67350944fe7"/>
    <xsd:element name="properties">
      <xsd:complexType>
        <xsd:sequence>
          <xsd:element name="documentManagement">
            <xsd:complexType>
              <xsd:all>
                <xsd:element ref="ns2:k8f0bf7a78da4ddd9d29550ac2181e81" minOccurs="0"/>
                <xsd:element ref="ns2:TaxCatchAll" minOccurs="0"/>
                <xsd:element ref="ns2:TaxCatchAllLabel" minOccurs="0"/>
                <xsd:element ref="ns2:p89cbde0cf8e4fde8909c47f3329b0c9" minOccurs="0"/>
                <xsd:element ref="ns2:_dlc_DocId" minOccurs="0"/>
                <xsd:element ref="ns2:_dlc_DocIdUrl" minOccurs="0"/>
                <xsd:element ref="ns2:_dlc_DocIdPersistId" minOccurs="0"/>
                <xsd:element ref="ns2:kb304a86f78844c2bd4575e2083a417c" minOccurs="0"/>
                <xsd:element ref="ns2:TaxKeywordTaxHTField" minOccurs="0"/>
                <xsd:element ref="ns2:ob8adc44a0fc42d1a992442f2b31674a" minOccurs="0"/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3:MediaServiceOCR" minOccurs="0"/>
                <xsd:element ref="ns3:MediaServiceEventHashCode" minOccurs="0"/>
                <xsd:element ref="ns3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254927-a6a9-48a6-87b4-84eeb616e527" elementFormDefault="qualified">
    <xsd:import namespace="http://schemas.microsoft.com/office/2006/documentManagement/types"/>
    <xsd:import namespace="http://schemas.microsoft.com/office/infopath/2007/PartnerControls"/>
    <xsd:element name="k8f0bf7a78da4ddd9d29550ac2181e81" ma:index="7" nillable="true" ma:taxonomy="true" ma:internalName="k8f0bf7a78da4ddd9d29550ac2181e81" ma:taxonomyFieldName="ESP_x0020_Location" ma:displayName="ESP Location" ma:readOnly="false" ma:default="474;#VPO Europe|ceffc18c-3526-46ab-b87b-e6db1a739486" ma:fieldId="{48f0bf7a-78da-4ddd-9d29-550ac2181e81}" ma:sspId="2e2deea9-f698-482e-8f77-105b59b605fe" ma:termSetId="ee743d23-d360-4d9a-9918-3c111ba7f6f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8" nillable="true" ma:displayName="Taxonomy Catch All Column" ma:hidden="true" ma:list="{90af4a46-5b27-4c84-999b-5a9fab6fd0f5}" ma:internalName="TaxCatchAll" ma:showField="CatchAllData" ma:web="a2254927-a6a9-48a6-87b4-84eeb616e52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9" nillable="true" ma:displayName="Taxonomy Catch All Column1" ma:hidden="true" ma:list="{90af4a46-5b27-4c84-999b-5a9fab6fd0f5}" ma:internalName="TaxCatchAllLabel" ma:readOnly="true" ma:showField="CatchAllDataLabel" ma:web="a2254927-a6a9-48a6-87b4-84eeb616e52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89cbde0cf8e4fde8909c47f3329b0c9" ma:index="11" nillable="true" ma:taxonomy="true" ma:internalName="p89cbde0cf8e4fde8909c47f3329b0c9" ma:taxonomyFieldName="ESP_x0020_Area" ma:displayName="ESP Area" ma:readOnly="false" ma:default="476;#General|1fa46836-3cf9-404e-a722-bf6deca47cbb" ma:fieldId="{989cbde0-cf8e-4fde-8909-c47f3329b0c9}" ma:sspId="2e2deea9-f698-482e-8f77-105b59b605fe" ma:termSetId="b6064b36-56ae-4bb1-85da-a9bd98484447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_dlc_DocId" ma:index="13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14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5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kb304a86f78844c2bd4575e2083a417c" ma:index="16" nillable="true" ma:taxonomy="true" ma:internalName="kb304a86f78844c2bd4575e2083a417c" ma:taxonomyFieldName="ESP_x0020_Topic" ma:displayName="ESP Type - Topic" ma:default="" ma:fieldId="{4b304a86-f788-44c2-bd45-75e2083a417c}" ma:sspId="2e2deea9-f698-482e-8f77-105b59b605fe" ma:termSetId="03ccb4d5-20a5-490f-a393-d08ad16e0de7" ma:anchorId="05a3a24b-396f-419b-97e6-42149ff995dd" ma:open="false" ma:isKeyword="false">
      <xsd:complexType>
        <xsd:sequence>
          <xsd:element ref="pc:Terms" minOccurs="0" maxOccurs="1"/>
        </xsd:sequence>
      </xsd:complexType>
    </xsd:element>
    <xsd:element name="TaxKeywordTaxHTField" ma:index="18" nillable="true" ma:taxonomy="true" ma:internalName="TaxKeywordTaxHTField" ma:taxonomyFieldName="TaxKeyword" ma:displayName="Enterprise Keywords" ma:fieldId="{23f27201-bee3-471e-b2e7-b64fd8b7ca38}" ma:taxonomyMulti="true" ma:sspId="2e2deea9-f698-482e-8f77-105b59b605fe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  <xsd:element name="ob8adc44a0fc42d1a992442f2b31674a" ma:index="21" nillable="true" ma:taxonomy="true" ma:internalName="ob8adc44a0fc42d1a992442f2b31674a" ma:taxonomyFieldName="VPO_x0020_Pillar_x0020__x002d__x0020_Block" ma:displayName="VPO Pillar - Block" ma:default="" ma:fieldId="{8b8adc44-a0fc-42d1-a992-442f2b31674a}" ma:sspId="2e2deea9-f698-482e-8f77-105b59b605fe" ma:termSetId="75a9f5c1-9f34-432c-a4e2-cdb4d75bed6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aredWithUsers" ma:index="23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4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ca029f-c5e6-439b-97e6-d67350944fe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25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26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27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28" nillable="true" ma:displayName="MediaServiceAutoTags" ma:description="" ma:internalName="MediaServiceAutoTags" ma:readOnly="true">
      <xsd:simpleType>
        <xsd:restriction base="dms:Text"/>
      </xsd:simpleType>
    </xsd:element>
    <xsd:element name="MediaServiceLocation" ma:index="29" nillable="true" ma:displayName="MediaServiceLocation" ma:description="" ma:internalName="MediaServiceLocation" ma:readOnly="true">
      <xsd:simpleType>
        <xsd:restriction base="dms:Text"/>
      </xsd:simpleType>
    </xsd:element>
    <xsd:element name="MediaServiceOCR" ma:index="3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3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32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10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159AB62-A734-4D83-9000-2E176F300949}">
  <ds:schemaRefs>
    <ds:schemaRef ds:uri="http://schemas.microsoft.com/office/2006/metadata/properties"/>
    <ds:schemaRef ds:uri="a2254927-a6a9-48a6-87b4-84eeb616e527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34ca029f-c5e6-439b-97e6-d67350944fe7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5C2FD245-2B7F-465A-B6C2-B29AB232427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B7E505B-88CA-4EB3-A6BA-AD9A6463CC69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9F515A72-D6AC-4342-B0FB-89F7C2860CE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2254927-a6a9-48a6-87b4-84eeb616e527"/>
    <ds:schemaRef ds:uri="34ca029f-c5e6-439b-97e6-d67350944fe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745</Words>
  <Application>Microsoft Office PowerPoint</Application>
  <PresentationFormat>Экран (16:9)</PresentationFormat>
  <Paragraphs>145</Paragraphs>
  <Slides>17</Slides>
  <Notes>8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2</vt:i4>
      </vt:variant>
      <vt:variant>
        <vt:lpstr>Заголовки слайдов</vt:lpstr>
      </vt:variant>
      <vt:variant>
        <vt:i4>17</vt:i4>
      </vt:variant>
    </vt:vector>
  </HeadingPairs>
  <TitlesOfParts>
    <vt:vector size="27" baseType="lpstr">
      <vt:lpstr>AB InBev Headlines</vt:lpstr>
      <vt:lpstr>Arial</vt:lpstr>
      <vt:lpstr>Arial Black</vt:lpstr>
      <vt:lpstr>Arial MT Pro Cyr</vt:lpstr>
      <vt:lpstr>Calibri</vt:lpstr>
      <vt:lpstr>Franklin Gothic Book</vt:lpstr>
      <vt:lpstr>Verdana</vt:lpstr>
      <vt:lpstr>Tema1</vt:lpstr>
      <vt:lpstr>think-cell Folie</vt:lpstr>
      <vt:lpstr>think-cell Slide</vt:lpstr>
      <vt:lpstr>Презентация PowerPoint</vt:lpstr>
      <vt:lpstr>Карты процессов для решения проблем</vt:lpstr>
      <vt:lpstr>ДОМ VPO*</vt:lpstr>
      <vt:lpstr>КОЛОННА МЕНЕДЖМЕНТ</vt:lpstr>
      <vt:lpstr>ОСНОВЫ КАРТ ПРОЦЕССОВ  (SDCA*)</vt:lpstr>
      <vt:lpstr>ВИЗУАЛИЗАЦИЯ КАРТЫ ПРОЦЕССА</vt:lpstr>
      <vt:lpstr>Презентация PowerPoint</vt:lpstr>
      <vt:lpstr>КОНТРОЛЬ ПРОЦЕССА</vt:lpstr>
      <vt:lpstr>ОТСЛЕЖИВАНИЯ PI ЧЕРЕЗ SIC  (КОНТРОЛЬ В КОРОТКИХ ИНТЕРВАЛАХ)</vt:lpstr>
      <vt:lpstr>Презентация PowerPoint</vt:lpstr>
      <vt:lpstr>Презентация PowerPoint</vt:lpstr>
      <vt:lpstr>Презентация PowerPoint</vt:lpstr>
      <vt:lpstr>Презентация PowerPoint</vt:lpstr>
      <vt:lpstr>БЫСТРАЯ КОРРЕКТИРОВКА ЧЕРЕЗ МЕТОД 5-ПОЧЕМУ</vt:lpstr>
      <vt:lpstr>Обсуждение: Какие процессы вы контролируете в своем OWS? Они критичны? Почему?</vt:lpstr>
      <vt:lpstr>Карты процессов для решения проблем</vt:lpstr>
      <vt:lpstr>DOCUMENT HISTORY</vt:lpstr>
    </vt:vector>
  </TitlesOfParts>
  <Company>Anheuser-Busch InBev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Malogo, Polina</dc:creator>
  <cp:keywords/>
  <cp:lastModifiedBy>Bardina, Elena</cp:lastModifiedBy>
  <cp:revision>218</cp:revision>
  <dcterms:created xsi:type="dcterms:W3CDTF">2018-08-16T07:07:48Z</dcterms:created>
  <dcterms:modified xsi:type="dcterms:W3CDTF">2020-05-21T09:50:28Z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0x010100F31F36849F227A4D867DE3C73873074F0070340AE5CC97EF4D86A41D7C98CDFA85</vt:lpwstr>
  </property>
  <property fmtid="{D5CDD505-2E9C-101B-9397-08002B2CF9AE}" pid="3" name="_dlc_DocIdItemGuid">
    <vt:lpwstr>a342a7b0-27a5-4307-8f69-b0cb1c524b28</vt:lpwstr>
  </property>
  <property fmtid="{D5CDD505-2E9C-101B-9397-08002B2CF9AE}" pid="4" name="ESP Topic">
    <vt:lpwstr/>
  </property>
  <property fmtid="{D5CDD505-2E9C-101B-9397-08002B2CF9AE}" pid="5" name="ESP Area">
    <vt:lpwstr>476;#General|1fa46836-3cf9-404e-a722-bf6deca47cbb</vt:lpwstr>
  </property>
  <property fmtid="{D5CDD505-2E9C-101B-9397-08002B2CF9AE}" pid="6" name="TaxKeyword">
    <vt:lpwstr/>
  </property>
  <property fmtid="{D5CDD505-2E9C-101B-9397-08002B2CF9AE}" pid="7" name="ESP Location">
    <vt:lpwstr>474;#VPO Europe|ceffc18c-3526-46ab-b87b-e6db1a739486</vt:lpwstr>
  </property>
  <property fmtid="{D5CDD505-2E9C-101B-9397-08002B2CF9AE}" pid="8" name="VPO Pillar - Block">
    <vt:lpwstr/>
  </property>
  <property fmtid="{D5CDD505-2E9C-101B-9397-08002B2CF9AE}" pid="9" name="AuthorIds_UIVersion_512">
    <vt:lpwstr>501</vt:lpwstr>
  </property>
</Properties>
</file>